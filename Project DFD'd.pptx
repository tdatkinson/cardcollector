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5240000" cy="85725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2" autoAdjust="0"/>
    <p:restoredTop sz="94660"/>
  </p:normalViewPr>
  <p:slideViewPr>
    <p:cSldViewPr snapToGrid="0">
      <p:cViewPr varScale="1">
        <p:scale>
          <a:sx n="82" d="100"/>
          <a:sy n="82" d="100"/>
        </p:scale>
        <p:origin x="114" y="7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8748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Source: ITEC630_Individual_Project.docx, “Logical Model Design,” context diagram narrative, inputs and outputs, and Functional Requirements. The document calls the application CardCollector Marketplace. This diagram uses the user’s requested name, CardCollector System. Administrators aggregate the catalog, inventory and fulfillment roles as in the source context narrative. Customer payment data represents payment tokens and checkout submissions. Only the external payment service handles authorization. Seller portals and grading integrations are future features, so they are excluded. Internal Angular, Java, Oracle components, data stores and Diagram 0 processes are outside a context-level diagram.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 ITEC630_Individual_Project.docx, Logical Model Design</a:t>
            </a:r>
            <a:r>
              <a:rPr lang="en-US"/>
              <a:t>,</a:t>
            </a:r>
            <a:r>
              <a:t> Functional Requirements</a:t>
            </a:r>
            <a:r>
              <a:rPr lang="en-US"/>
              <a:t> and Inputs/Outputs</a:t>
            </a:r>
            <a:r>
              <a:t>. </a:t>
            </a:r>
            <a:r>
              <a:rPr lang="en-US"/>
              <a:t>Visual notation follows </a:t>
            </a:r>
            <a:r>
              <a:t>the </a:t>
            </a:r>
            <a:r>
              <a:rPr lang="en-US"/>
              <a:t>user-provided image only; none of its example-system content is reused. Nine </a:t>
            </a:r>
            <a:r>
              <a:t>processes </a:t>
            </a:r>
            <a:r>
              <a:rPr lang="en-US"/>
              <a:t>match the source decomposition. External participants match the context diagram. Record routes elaborate the documented logical requirements. Repeated entity names and data store IDs refer to </a:t>
            </a:r>
            <a:r>
              <a:t>the </a:t>
            </a:r>
            <a:r>
              <a:rPr lang="en-US"/>
              <a:t>same objects</a:t>
            </a:r>
            <a:r>
              <a:t>. D1 </a:t>
            </a:r>
            <a:r>
              <a:rPr lang="en-US"/>
              <a:t>Customers</a:t>
            </a:r>
            <a:r>
              <a:t>, D2 Card Catalog, D3 Inventory, D4 Shopping </a:t>
            </a:r>
            <a:r>
              <a:rPr lang="en-US"/>
              <a:t>Carts</a:t>
            </a:r>
            <a:r>
              <a:t>, D5 </a:t>
            </a:r>
            <a:r>
              <a:rPr lang="en-US"/>
              <a:t>Orders</a:t>
            </a:r>
            <a:r>
              <a:t>, D6 </a:t>
            </a:r>
            <a:r>
              <a:rPr lang="en-US"/>
              <a:t>Payments</a:t>
            </a:r>
            <a:r>
              <a:t>, D7 </a:t>
            </a:r>
            <a:r>
              <a:rPr lang="en-US"/>
              <a:t>Shipments</a:t>
            </a:r>
            <a:r>
              <a:t>, D8 </a:t>
            </a:r>
            <a:r>
              <a:rPr lang="en-US"/>
              <a:t>Returns</a:t>
            </a:r>
            <a:r>
              <a:t>, D9 Audit Log. </a:t>
            </a:r>
            <a:r>
              <a:rPr lang="en-US"/>
              <a:t>Process numbers identify functions rather than execution order</a:t>
            </a:r>
            <a:r>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 ITEC630_Individual_Project.docx, Functional Requirements, Logical Model Design, Inputs/Outputs and Security Controls. Proposed analytical decomposition of process 1.0, based on the supplied document and the Level 0 DFD on slide 2. Subprocess names and internal data routes are design elaborations rather than verbatim requirements. Boundary flows retain the parent process data categories. D1 appears twice for readability. Validation includes account-field and credential checks. This diagram preserves the parent account data/details and profile records/updates interfaces.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 ITEC630_Individual_Project.docx, Functional Requirements, Logical Model Design, Inputs/Outputs and Security Controls. Proposed analytical decomposition of process 2.0, based on the supplied document and the Level 0 DFD on slide 2. Subprocess names and internal data routes are design elaborations rather than verbatim requirements. Boundary flows retain the parent process data categories. Validation covers required title, category, year, condition, price, quantity and images. Catalog actions include add, edit, deactivate and categorize. Audit record data includes administrator identity and the product/price change. No new catalog-read boundary is added because the current parent shows only catalog writes.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 ITEC630_Individual_Project.docx, Functional Requirements, Logical Model Design, Inputs/Outputs and Security Controls. Proposed analytical decomposition of process 3.0, based on the supplied document and the Level 0 DFD on slide 2. Subprocess names and internal data routes are design elaborations rather than verbatim requirements. Boundary flows retain the parent process data categories. Search filters include category, set, player/character, year, condition, grade, price range, seller, rarity and availability. Results include listing descriptions and current availability. Only the parent D2 and D3 reads are exposed.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 ITEC630_Individual_Project.docx, Functional Requirements, Logical Model Design, Inputs/Outputs and Security Controls. Proposed analytical decomposition of process 4.0, based on the supplied document and the Level 0 DFD on slide 2. Subprocess names and internal data routes are design elaborations rather than verbatim requirements. Boundary flows retain the parent process data categories. Assumption: cart records include unit-price snapshots. This keeps the child balanced to the existing parent, which does not expose a D2 catalog-price input. A future parent revision should show repricing against the catalog if live price checks are required. Adds, quantity updates and removals remain in scope.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 ITEC630_Individual_Project.docx, Functional Requirements, Logical Model Design, Inputs/Outputs and Security Controls. Proposed analytical decomposition of process 5.0, based on the supplied document and the Level 0 DFD on slide 2. Subprocess names and internal data routes are design elaborations rather than verbatim requirements. Boundary flows retain the parent process data categories. The parent boundary is unchanged: order details/payment token and confirmation/invoice, D4 cart contents, D3 available stock/stock reservation, payment service authorization/status, D5 order record, D6 payment record. Only approved authorizations create order records and reserve stock. Transaction records retain payment outcomes. Failure or validation-error messaging is not separately drawn because the supplied parent does not define that interface. A production design should explicitly add and balance those exception responses.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 ITEC630_Individual_Project.docx, Functional Requirements, Logical Model Design, Inputs/Outputs and Security Controls. Proposed analytical decomposition of process 6.0, based on the supplied document and the Level 0 DFD on slide 2. Subprocess names and internal data routes are design elaborations rather than verbatim requirements. Boundary flows retain the parent process data categories. Inventory checks preserve nonnegative quantities and transaction consistency. Acquisition information comes from the administrative updates. Audit output is the inventory audit entries already shown on the Level 0 parent.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 ITEC630_Individual_Project.docx, Functional Requirements, Logical Model Design, Inputs/Outputs and Security Controls. Proposed analytical decomposition of process 7.0, based on the supplied document and the Level 0 DFD on slide 2. Subprocess names and internal data routes are design elaborations rather than verbatim requirements. Boundary flows retain the parent process data categories. The child preserves D5 confirmed order input, administrator fulfillment updates and pick lists, shipping-carrier shipment request and tracking updates, D7 shipment record and customer shipment status. It adds no D5 order-status write or audit-log write, because the current parent does not expose them. These could be added consistently in a future parent revision.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 ITEC630_Individual_Project.docx, Functional Requirements, Logical Model Design, Inputs/Outputs and Security Controls. Proposed analytical decomposition of process 8.0, based on the supplied document and the Level 0 DFD on slide 2. Subprocess names and internal data routes are design elaborations rather than verbatim requirements. Boundary flows retain the parent process data categories. Eligibility assessment compares the return request against order details and the configured return policy. The policy is a business rule, not a new external interface. No payment refund or restocking interface is invented, because neither appears on the parent. Production refund and restocking flows require explicit scope and parent updates.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 ITEC630_Individual_Project.docx, Functional Requirements, Logical Model Design, Inputs/Outputs and Security Controls. Proposed analytical decomposition of process 9.0, based on the supplied document and the Level 0 DFD on slide 2. Subprocess names and internal data routes are design elaborations rather than verbatim requirements. Boundary flows retain the parent process data categories. Measures support the document’s sales, inventory, high-value card, low-stock, returns and customer-activity reports. D3 stock records are assumed to retain the card identifiers and valuation fields required for the named inventory reports. Detailed catalog enrichment is not added because the parent does not expose D2. The report trigger is outside the data model and no report-request flow is invented.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8970502"/>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Title">
            <a:extLst>
              <a:ext uri="{FF2B5EF4-FFF2-40B4-BE49-F238E27FC236}">
                <a16:creationId xmlns:a16="http://schemas.microsoft.com/office/drawing/2014/main" id="{D3CE7D61-7A5E-4AD8-9757-CDF4039116CA}"/>
              </a:ext>
            </a:extLst>
          </p:cNvPr>
          <p:cNvSpPr>
            <a:spLocks noGrp="1"/>
          </p:cNvSpPr>
          <p:nvPr/>
        </p:nvSpPr>
        <p:spPr>
          <a:xfrm>
            <a:off x="523875" y="361950"/>
            <a:ext cx="13811250" cy="619125"/>
          </a:xfrm>
          <a:prstGeom prst="rect">
            <a:avLst/>
          </a:prstGeom>
          <a:noFill/>
          <a:ln w="0">
            <a:noFill/>
          </a:ln>
        </p:spPr>
        <p:txBody>
          <a:bodyPr anchor="ctr">
            <a:noAutofit/>
          </a:bodyPr>
          <a:lstStyle/>
          <a:p>
            <a:pPr algn="l">
              <a:defRPr sz="3600" b="1">
                <a:solidFill>
                  <a:srgbClr val="173447"/>
                </a:solidFill>
                <a:latin typeface="Arial"/>
                <a:ea typeface="Arial"/>
                <a:cs typeface="Arial"/>
              </a:defRPr>
            </a:pPr>
            <a:r>
              <a:rPr sz="3600" b="1">
                <a:solidFill>
                  <a:srgbClr val="173447"/>
                </a:solidFill>
                <a:latin typeface="Arial"/>
                <a:ea typeface="Arial"/>
                <a:cs typeface="Arial"/>
              </a:rPr>
              <a:t>CardCollector System</a:t>
            </a:r>
          </a:p>
        </p:txBody>
      </p:sp>
      <p:sp>
        <p:nvSpPr>
          <p:cNvPr id="2" name="Subtitle">
            <a:extLst>
              <a:ext uri="{FF2B5EF4-FFF2-40B4-BE49-F238E27FC236}">
                <a16:creationId xmlns:a16="http://schemas.microsoft.com/office/drawing/2014/main" id="{C0E4B452-3129-431F-8341-1A9525D659BD}"/>
              </a:ext>
            </a:extLst>
          </p:cNvPr>
          <p:cNvSpPr>
            <a:spLocks noGrp="1"/>
          </p:cNvSpPr>
          <p:nvPr/>
        </p:nvSpPr>
        <p:spPr>
          <a:xfrm>
            <a:off x="552450" y="1066800"/>
            <a:ext cx="13811250" cy="428625"/>
          </a:xfrm>
          <a:prstGeom prst="rect">
            <a:avLst/>
          </a:prstGeom>
          <a:noFill/>
          <a:ln w="0">
            <a:noFill/>
          </a:ln>
        </p:spPr>
        <p:txBody>
          <a:bodyPr anchor="ctr">
            <a:noAutofit/>
          </a:bodyPr>
          <a:lstStyle/>
          <a:p>
            <a:pPr algn="l">
              <a:defRPr sz="2100" b="0">
                <a:solidFill>
                  <a:srgbClr val="526575"/>
                </a:solidFill>
                <a:latin typeface="Arial"/>
                <a:ea typeface="Arial"/>
                <a:cs typeface="Arial"/>
              </a:defRPr>
            </a:pPr>
            <a:r>
              <a:rPr sz="2100" b="0">
                <a:solidFill>
                  <a:srgbClr val="526575"/>
                </a:solidFill>
                <a:latin typeface="Arial"/>
                <a:ea typeface="Arial"/>
                <a:cs typeface="Arial"/>
              </a:rPr>
              <a:t>Context-level data flow diagram</a:t>
            </a:r>
          </a:p>
        </p:txBody>
      </p:sp>
      <p:sp>
        <p:nvSpPr>
          <p:cNvPr id="3" name="Title rule">
            <a:extLst>
              <a:ext uri="{FF2B5EF4-FFF2-40B4-BE49-F238E27FC236}">
                <a16:creationId xmlns:a16="http://schemas.microsoft.com/office/drawing/2014/main" id="{DC8D00FB-7D76-4081-89E7-29E9591E5DFB}"/>
              </a:ext>
            </a:extLst>
          </p:cNvPr>
          <p:cNvSpPr>
            <a:spLocks noGrp="1"/>
          </p:cNvSpPr>
          <p:nvPr/>
        </p:nvSpPr>
        <p:spPr>
          <a:xfrm>
            <a:off x="552450" y="1714500"/>
            <a:ext cx="14135100" cy="0"/>
          </a:xfrm>
          <a:prstGeom prst="line">
            <a:avLst/>
          </a:prstGeom>
          <a:noFill/>
          <a:ln w="14288">
            <a:solidFill>
              <a:srgbClr val="CCD8DE"/>
            </a:solidFill>
          </a:ln>
        </p:spPr>
        <p:txBody>
          <a:bodyPr/>
          <a:lstStyle/>
          <a:p>
            <a:endParaRPr lang="en-US"/>
          </a:p>
        </p:txBody>
      </p:sp>
      <p:sp>
        <p:nvSpPr>
          <p:cNvPr id="4" name="System process">
            <a:extLst>
              <a:ext uri="{FF2B5EF4-FFF2-40B4-BE49-F238E27FC236}">
                <a16:creationId xmlns:a16="http://schemas.microsoft.com/office/drawing/2014/main" id="{2E199C5A-6CE1-47F9-9EA3-2F0446FFA64B}"/>
              </a:ext>
            </a:extLst>
          </p:cNvPr>
          <p:cNvSpPr>
            <a:spLocks noGrp="1"/>
          </p:cNvSpPr>
          <p:nvPr/>
        </p:nvSpPr>
        <p:spPr>
          <a:xfrm>
            <a:off x="6429375" y="2714625"/>
            <a:ext cx="2381250" cy="4333875"/>
          </a:xfrm>
          <a:prstGeom prst="roundRect">
            <a:avLst>
              <a:gd name="adj" fmla="val 3200"/>
            </a:avLst>
          </a:prstGeom>
          <a:solidFill>
            <a:srgbClr val="EAF4F5"/>
          </a:solidFill>
          <a:ln w="23813">
            <a:solidFill>
              <a:srgbClr val="136C78"/>
            </a:solidFill>
          </a:ln>
        </p:spPr>
        <p:txBody>
          <a:bodyPr/>
          <a:lstStyle/>
          <a:p>
            <a:endParaRPr lang="en-US"/>
          </a:p>
        </p:txBody>
      </p:sp>
      <p:sp>
        <p:nvSpPr>
          <p:cNvPr id="5" name="Process number">
            <a:extLst>
              <a:ext uri="{FF2B5EF4-FFF2-40B4-BE49-F238E27FC236}">
                <a16:creationId xmlns:a16="http://schemas.microsoft.com/office/drawing/2014/main" id="{155C27D7-890D-4EB3-9841-7641FADA03F3}"/>
              </a:ext>
            </a:extLst>
          </p:cNvPr>
          <p:cNvSpPr>
            <a:spLocks noGrp="1"/>
          </p:cNvSpPr>
          <p:nvPr/>
        </p:nvSpPr>
        <p:spPr>
          <a:xfrm>
            <a:off x="6667500" y="3743325"/>
            <a:ext cx="1905000" cy="428625"/>
          </a:xfrm>
          <a:prstGeom prst="rect">
            <a:avLst/>
          </a:prstGeom>
          <a:noFill/>
          <a:ln w="0">
            <a:noFill/>
          </a:ln>
        </p:spPr>
        <p:txBody>
          <a:bodyPr anchor="ctr">
            <a:noAutofit/>
          </a:bodyPr>
          <a:lstStyle/>
          <a:p>
            <a:pPr algn="ctr">
              <a:defRPr sz="2025" b="1">
                <a:solidFill>
                  <a:srgbClr val="136C78"/>
                </a:solidFill>
                <a:latin typeface="Arial"/>
                <a:ea typeface="Arial"/>
                <a:cs typeface="Arial"/>
              </a:defRPr>
            </a:pPr>
            <a:r>
              <a:rPr sz="2025" b="1">
                <a:solidFill>
                  <a:srgbClr val="136C78"/>
                </a:solidFill>
                <a:latin typeface="Arial"/>
                <a:ea typeface="Arial"/>
                <a:cs typeface="Arial"/>
              </a:rPr>
              <a:t>0</a:t>
            </a:r>
          </a:p>
        </p:txBody>
      </p:sp>
      <p:sp>
        <p:nvSpPr>
          <p:cNvPr id="6" name="System name">
            <a:extLst>
              <a:ext uri="{FF2B5EF4-FFF2-40B4-BE49-F238E27FC236}">
                <a16:creationId xmlns:a16="http://schemas.microsoft.com/office/drawing/2014/main" id="{32C86093-39E4-49F2-878A-6E2DACF656E0}"/>
              </a:ext>
            </a:extLst>
          </p:cNvPr>
          <p:cNvSpPr>
            <a:spLocks noGrp="1"/>
          </p:cNvSpPr>
          <p:nvPr/>
        </p:nvSpPr>
        <p:spPr>
          <a:xfrm>
            <a:off x="6572250" y="4295775"/>
            <a:ext cx="2095500" cy="990600"/>
          </a:xfrm>
          <a:prstGeom prst="rect">
            <a:avLst/>
          </a:prstGeom>
          <a:noFill/>
          <a:ln w="0">
            <a:noFill/>
          </a:ln>
        </p:spPr>
        <p:txBody>
          <a:bodyPr anchor="ctr">
            <a:noAutofit/>
          </a:bodyPr>
          <a:lstStyle/>
          <a:p>
            <a:pPr algn="ctr">
              <a:defRPr sz="1725" b="1">
                <a:solidFill>
                  <a:srgbClr val="173447"/>
                </a:solidFill>
                <a:latin typeface="Arial"/>
                <a:ea typeface="Arial"/>
                <a:cs typeface="Arial"/>
              </a:defRPr>
            </a:pPr>
            <a:r>
              <a:rPr sz="1725" b="1">
                <a:solidFill>
                  <a:srgbClr val="173447"/>
                </a:solidFill>
                <a:latin typeface="Arial"/>
                <a:ea typeface="Arial"/>
                <a:cs typeface="Arial"/>
              </a:rPr>
              <a:t>CardCollector</a:t>
            </a:r>
          </a:p>
          <a:p>
            <a:pPr algn="ctr">
              <a:defRPr sz="1725" b="1">
                <a:solidFill>
                  <a:srgbClr val="173447"/>
                </a:solidFill>
                <a:latin typeface="Arial"/>
                <a:ea typeface="Arial"/>
                <a:cs typeface="Arial"/>
              </a:defRPr>
            </a:pPr>
            <a:r>
              <a:rPr sz="1725" b="1">
                <a:solidFill>
                  <a:srgbClr val="173447"/>
                </a:solidFill>
                <a:latin typeface="Arial"/>
                <a:ea typeface="Arial"/>
                <a:cs typeface="Arial"/>
              </a:rPr>
              <a:t>System</a:t>
            </a:r>
          </a:p>
        </p:txBody>
      </p:sp>
      <p:sp>
        <p:nvSpPr>
          <p:cNvPr id="7" name="Customer entity">
            <a:extLst>
              <a:ext uri="{FF2B5EF4-FFF2-40B4-BE49-F238E27FC236}">
                <a16:creationId xmlns:a16="http://schemas.microsoft.com/office/drawing/2014/main" id="{1FD6811B-762D-49DB-A23A-49971B294E80}"/>
              </a:ext>
            </a:extLst>
          </p:cNvPr>
          <p:cNvSpPr>
            <a:spLocks noGrp="1"/>
          </p:cNvSpPr>
          <p:nvPr/>
        </p:nvSpPr>
        <p:spPr>
          <a:xfrm>
            <a:off x="523875" y="2714625"/>
            <a:ext cx="2333625" cy="1619250"/>
          </a:xfrm>
          <a:prstGeom prst="rect">
            <a:avLst/>
          </a:prstGeom>
          <a:solidFill>
            <a:srgbClr val="FFFFFF"/>
          </a:solidFill>
          <a:ln w="19050">
            <a:solidFill>
              <a:srgbClr val="173447"/>
            </a:solidFill>
          </a:ln>
        </p:spPr>
        <p:txBody>
          <a:bodyPr/>
          <a:lstStyle/>
          <a:p>
            <a:endParaRPr lang="en-US"/>
          </a:p>
        </p:txBody>
      </p:sp>
      <p:sp>
        <p:nvSpPr>
          <p:cNvPr id="8" name="Customer entity label">
            <a:extLst>
              <a:ext uri="{FF2B5EF4-FFF2-40B4-BE49-F238E27FC236}">
                <a16:creationId xmlns:a16="http://schemas.microsoft.com/office/drawing/2014/main" id="{E4CCCF2F-1734-4A17-A46E-3C2FEDF9EE42}"/>
              </a:ext>
            </a:extLst>
          </p:cNvPr>
          <p:cNvSpPr>
            <a:spLocks noGrp="1"/>
          </p:cNvSpPr>
          <p:nvPr/>
        </p:nvSpPr>
        <p:spPr>
          <a:xfrm>
            <a:off x="638175" y="3000375"/>
            <a:ext cx="2105025" cy="1047750"/>
          </a:xfrm>
          <a:prstGeom prst="rect">
            <a:avLst/>
          </a:prstGeom>
          <a:noFill/>
          <a:ln w="0">
            <a:noFill/>
          </a:ln>
        </p:spPr>
        <p:txBody>
          <a:bodyPr anchor="ctr">
            <a:noAutofit/>
          </a:bodyPr>
          <a:lstStyle/>
          <a:p>
            <a:pPr algn="ctr">
              <a:defRPr sz="1725" b="1">
                <a:solidFill>
                  <a:srgbClr val="173447"/>
                </a:solidFill>
                <a:latin typeface="Arial"/>
                <a:ea typeface="Arial"/>
                <a:cs typeface="Arial"/>
              </a:defRPr>
            </a:pPr>
            <a:r>
              <a:rPr sz="1725" b="1">
                <a:solidFill>
                  <a:srgbClr val="173447"/>
                </a:solidFill>
                <a:latin typeface="Arial"/>
                <a:ea typeface="Arial"/>
                <a:cs typeface="Arial"/>
              </a:rPr>
              <a:t>Customers</a:t>
            </a:r>
          </a:p>
        </p:txBody>
      </p:sp>
      <p:sp>
        <p:nvSpPr>
          <p:cNvPr id="9" name="Admin entity">
            <a:extLst>
              <a:ext uri="{FF2B5EF4-FFF2-40B4-BE49-F238E27FC236}">
                <a16:creationId xmlns:a16="http://schemas.microsoft.com/office/drawing/2014/main" id="{167807D4-C716-4414-81AC-D5ED1D256DCE}"/>
              </a:ext>
            </a:extLst>
          </p:cNvPr>
          <p:cNvSpPr>
            <a:spLocks noGrp="1"/>
          </p:cNvSpPr>
          <p:nvPr/>
        </p:nvSpPr>
        <p:spPr>
          <a:xfrm>
            <a:off x="523875" y="5429250"/>
            <a:ext cx="2333625" cy="1619250"/>
          </a:xfrm>
          <a:prstGeom prst="rect">
            <a:avLst/>
          </a:prstGeom>
          <a:solidFill>
            <a:srgbClr val="FFFFFF"/>
          </a:solidFill>
          <a:ln w="19050">
            <a:solidFill>
              <a:srgbClr val="173447"/>
            </a:solidFill>
          </a:ln>
        </p:spPr>
        <p:txBody>
          <a:bodyPr/>
          <a:lstStyle/>
          <a:p>
            <a:endParaRPr lang="en-US"/>
          </a:p>
        </p:txBody>
      </p:sp>
      <p:sp>
        <p:nvSpPr>
          <p:cNvPr id="10" name="Admin entity label">
            <a:extLst>
              <a:ext uri="{FF2B5EF4-FFF2-40B4-BE49-F238E27FC236}">
                <a16:creationId xmlns:a16="http://schemas.microsoft.com/office/drawing/2014/main" id="{65F0A7DB-63B8-44F3-8638-001A7A8611D2}"/>
              </a:ext>
            </a:extLst>
          </p:cNvPr>
          <p:cNvSpPr>
            <a:spLocks noGrp="1"/>
          </p:cNvSpPr>
          <p:nvPr/>
        </p:nvSpPr>
        <p:spPr>
          <a:xfrm>
            <a:off x="638175" y="5715000"/>
            <a:ext cx="2105025" cy="1047750"/>
          </a:xfrm>
          <a:prstGeom prst="rect">
            <a:avLst/>
          </a:prstGeom>
          <a:noFill/>
          <a:ln w="0">
            <a:noFill/>
          </a:ln>
        </p:spPr>
        <p:txBody>
          <a:bodyPr anchor="ctr">
            <a:noAutofit/>
          </a:bodyPr>
          <a:lstStyle/>
          <a:p>
            <a:pPr algn="ctr">
              <a:defRPr sz="1725" b="1">
                <a:solidFill>
                  <a:srgbClr val="173447"/>
                </a:solidFill>
                <a:latin typeface="Arial"/>
                <a:ea typeface="Arial"/>
                <a:cs typeface="Arial"/>
              </a:defRPr>
            </a:pPr>
            <a:r>
              <a:rPr sz="1725" b="1">
                <a:solidFill>
                  <a:srgbClr val="173447"/>
                </a:solidFill>
                <a:latin typeface="Arial"/>
                <a:ea typeface="Arial"/>
                <a:cs typeface="Arial"/>
              </a:rPr>
              <a:t>Administrators</a:t>
            </a:r>
          </a:p>
        </p:txBody>
      </p:sp>
      <p:sp>
        <p:nvSpPr>
          <p:cNvPr id="11" name="Payment entity">
            <a:extLst>
              <a:ext uri="{FF2B5EF4-FFF2-40B4-BE49-F238E27FC236}">
                <a16:creationId xmlns:a16="http://schemas.microsoft.com/office/drawing/2014/main" id="{E161F72F-5C4B-4B99-ACB2-77468E5727A7}"/>
              </a:ext>
            </a:extLst>
          </p:cNvPr>
          <p:cNvSpPr>
            <a:spLocks noGrp="1"/>
          </p:cNvSpPr>
          <p:nvPr/>
        </p:nvSpPr>
        <p:spPr>
          <a:xfrm>
            <a:off x="12382500" y="2714625"/>
            <a:ext cx="2333625" cy="1619250"/>
          </a:xfrm>
          <a:prstGeom prst="rect">
            <a:avLst/>
          </a:prstGeom>
          <a:solidFill>
            <a:srgbClr val="FFFFFF"/>
          </a:solidFill>
          <a:ln w="19050">
            <a:solidFill>
              <a:srgbClr val="173447"/>
            </a:solidFill>
          </a:ln>
        </p:spPr>
        <p:txBody>
          <a:bodyPr/>
          <a:lstStyle/>
          <a:p>
            <a:endParaRPr lang="en-US"/>
          </a:p>
        </p:txBody>
      </p:sp>
      <p:sp>
        <p:nvSpPr>
          <p:cNvPr id="12" name="Payment entity label">
            <a:extLst>
              <a:ext uri="{FF2B5EF4-FFF2-40B4-BE49-F238E27FC236}">
                <a16:creationId xmlns:a16="http://schemas.microsoft.com/office/drawing/2014/main" id="{9CE7549C-366D-4CD6-A560-7E204086679A}"/>
              </a:ext>
            </a:extLst>
          </p:cNvPr>
          <p:cNvSpPr>
            <a:spLocks noGrp="1"/>
          </p:cNvSpPr>
          <p:nvPr/>
        </p:nvSpPr>
        <p:spPr>
          <a:xfrm>
            <a:off x="12496800" y="3000375"/>
            <a:ext cx="2105025" cy="1047750"/>
          </a:xfrm>
          <a:prstGeom prst="rect">
            <a:avLst/>
          </a:prstGeom>
          <a:noFill/>
          <a:ln w="0">
            <a:noFill/>
          </a:ln>
        </p:spPr>
        <p:txBody>
          <a:bodyPr anchor="ctr">
            <a:noAutofit/>
          </a:bodyPr>
          <a:lstStyle/>
          <a:p>
            <a:pPr algn="ctr">
              <a:defRPr sz="1725" b="1">
                <a:solidFill>
                  <a:srgbClr val="173447"/>
                </a:solidFill>
                <a:latin typeface="Arial"/>
                <a:ea typeface="Arial"/>
                <a:cs typeface="Arial"/>
              </a:defRPr>
            </a:pPr>
            <a:r>
              <a:rPr sz="1725" b="1">
                <a:solidFill>
                  <a:srgbClr val="173447"/>
                </a:solidFill>
                <a:latin typeface="Arial"/>
                <a:ea typeface="Arial"/>
                <a:cs typeface="Arial"/>
              </a:rPr>
              <a:t>External</a:t>
            </a:r>
          </a:p>
          <a:p>
            <a:pPr algn="ctr">
              <a:defRPr sz="1725" b="1">
                <a:solidFill>
                  <a:srgbClr val="173447"/>
                </a:solidFill>
                <a:latin typeface="Arial"/>
                <a:ea typeface="Arial"/>
                <a:cs typeface="Arial"/>
              </a:defRPr>
            </a:pPr>
            <a:r>
              <a:rPr sz="1725" b="1">
                <a:solidFill>
                  <a:srgbClr val="173447"/>
                </a:solidFill>
                <a:latin typeface="Arial"/>
                <a:ea typeface="Arial"/>
                <a:cs typeface="Arial"/>
              </a:rPr>
              <a:t>payment service</a:t>
            </a:r>
          </a:p>
        </p:txBody>
      </p:sp>
      <p:sp>
        <p:nvSpPr>
          <p:cNvPr id="13" name="Carrier entity">
            <a:extLst>
              <a:ext uri="{FF2B5EF4-FFF2-40B4-BE49-F238E27FC236}">
                <a16:creationId xmlns:a16="http://schemas.microsoft.com/office/drawing/2014/main" id="{2AB84756-C990-405A-B283-8119696B3FAE}"/>
              </a:ext>
            </a:extLst>
          </p:cNvPr>
          <p:cNvSpPr>
            <a:spLocks noGrp="1"/>
          </p:cNvSpPr>
          <p:nvPr/>
        </p:nvSpPr>
        <p:spPr>
          <a:xfrm>
            <a:off x="12382500" y="5429250"/>
            <a:ext cx="2333625" cy="1619250"/>
          </a:xfrm>
          <a:prstGeom prst="rect">
            <a:avLst/>
          </a:prstGeom>
          <a:solidFill>
            <a:srgbClr val="FFFFFF"/>
          </a:solidFill>
          <a:ln w="19050">
            <a:solidFill>
              <a:srgbClr val="173447"/>
            </a:solidFill>
          </a:ln>
        </p:spPr>
        <p:txBody>
          <a:bodyPr/>
          <a:lstStyle/>
          <a:p>
            <a:endParaRPr lang="en-US"/>
          </a:p>
        </p:txBody>
      </p:sp>
      <p:sp>
        <p:nvSpPr>
          <p:cNvPr id="14" name="Carrier entity label">
            <a:extLst>
              <a:ext uri="{FF2B5EF4-FFF2-40B4-BE49-F238E27FC236}">
                <a16:creationId xmlns:a16="http://schemas.microsoft.com/office/drawing/2014/main" id="{40D3D3A6-D0A0-4399-B7CD-9B4FC4F99C70}"/>
              </a:ext>
            </a:extLst>
          </p:cNvPr>
          <p:cNvSpPr>
            <a:spLocks noGrp="1"/>
          </p:cNvSpPr>
          <p:nvPr/>
        </p:nvSpPr>
        <p:spPr>
          <a:xfrm>
            <a:off x="12496800" y="5715000"/>
            <a:ext cx="2105025" cy="1047750"/>
          </a:xfrm>
          <a:prstGeom prst="rect">
            <a:avLst/>
          </a:prstGeom>
          <a:noFill/>
          <a:ln w="0">
            <a:noFill/>
          </a:ln>
        </p:spPr>
        <p:txBody>
          <a:bodyPr anchor="ctr">
            <a:noAutofit/>
          </a:bodyPr>
          <a:lstStyle/>
          <a:p>
            <a:pPr algn="ctr">
              <a:defRPr sz="1725" b="1">
                <a:solidFill>
                  <a:srgbClr val="173447"/>
                </a:solidFill>
                <a:latin typeface="Arial"/>
                <a:ea typeface="Arial"/>
                <a:cs typeface="Arial"/>
              </a:defRPr>
            </a:pPr>
            <a:r>
              <a:rPr sz="1725" b="1">
                <a:solidFill>
                  <a:srgbClr val="173447"/>
                </a:solidFill>
                <a:latin typeface="Arial"/>
                <a:ea typeface="Arial"/>
                <a:cs typeface="Arial"/>
              </a:rPr>
              <a:t>Shipping</a:t>
            </a:r>
          </a:p>
          <a:p>
            <a:pPr algn="ctr">
              <a:defRPr sz="1725" b="1">
                <a:solidFill>
                  <a:srgbClr val="173447"/>
                </a:solidFill>
                <a:latin typeface="Arial"/>
                <a:ea typeface="Arial"/>
                <a:cs typeface="Arial"/>
              </a:defRPr>
            </a:pPr>
            <a:r>
              <a:rPr sz="1725" b="1">
                <a:solidFill>
                  <a:srgbClr val="173447"/>
                </a:solidFill>
                <a:latin typeface="Arial"/>
                <a:ea typeface="Arial"/>
                <a:cs typeface="Arial"/>
              </a:rPr>
              <a:t>carriers</a:t>
            </a:r>
          </a:p>
        </p:txBody>
      </p:sp>
      <p:sp>
        <p:nvSpPr>
          <p:cNvPr id="15" name="Customer inputs source">
            <a:extLst>
              <a:ext uri="{FF2B5EF4-FFF2-40B4-BE49-F238E27FC236}">
                <a16:creationId xmlns:a16="http://schemas.microsoft.com/office/drawing/2014/main" id="{A8458C66-786C-4955-8380-09D013207F6A}"/>
              </a:ext>
            </a:extLst>
          </p:cNvPr>
          <p:cNvSpPr>
            <a:spLocks noGrp="1"/>
          </p:cNvSpPr>
          <p:nvPr/>
        </p:nvSpPr>
        <p:spPr>
          <a:xfrm>
            <a:off x="2857500" y="3048000"/>
            <a:ext cx="0" cy="0"/>
          </a:xfrm>
          <a:prstGeom prst="rect">
            <a:avLst/>
          </a:prstGeom>
          <a:noFill/>
          <a:ln w="0">
            <a:noFill/>
          </a:ln>
        </p:spPr>
        <p:txBody>
          <a:bodyPr/>
          <a:lstStyle/>
          <a:p>
            <a:endParaRPr lang="en-US"/>
          </a:p>
        </p:txBody>
      </p:sp>
      <p:sp>
        <p:nvSpPr>
          <p:cNvPr id="16" name="Customer inputs target">
            <a:extLst>
              <a:ext uri="{FF2B5EF4-FFF2-40B4-BE49-F238E27FC236}">
                <a16:creationId xmlns:a16="http://schemas.microsoft.com/office/drawing/2014/main" id="{E9C04D3D-5883-46C7-B036-03CBA9D82F0E}"/>
              </a:ext>
            </a:extLst>
          </p:cNvPr>
          <p:cNvSpPr>
            <a:spLocks noGrp="1"/>
          </p:cNvSpPr>
          <p:nvPr/>
        </p:nvSpPr>
        <p:spPr>
          <a:xfrm>
            <a:off x="6429375" y="3048000"/>
            <a:ext cx="0" cy="0"/>
          </a:xfrm>
          <a:prstGeom prst="rect">
            <a:avLst/>
          </a:prstGeom>
          <a:noFill/>
          <a:ln w="0">
            <a:noFill/>
          </a:ln>
        </p:spPr>
        <p:txBody>
          <a:bodyPr/>
          <a:lstStyle/>
          <a:p>
            <a:endParaRPr lang="en-US"/>
          </a:p>
        </p:txBody>
      </p:sp>
      <p:cxnSp>
        <p:nvCxnSpPr>
          <p:cNvPr id="17" name="Straight Arrow Connector 16"/>
          <p:cNvCxnSpPr>
            <a:stCxn id="15" idx="2"/>
            <a:endCxn id="16" idx="0"/>
          </p:cNvCxnSpPr>
          <p:nvPr/>
        </p:nvCxnSpPr>
        <p:spPr>
          <a:xfrm>
            <a:off x="2857500" y="3048000"/>
            <a:ext cx="3571875" cy="0"/>
          </a:xfrm>
          <a:prstGeom prst="straightConnector1">
            <a:avLst/>
          </a:prstGeom>
          <a:ln w="23813">
            <a:solidFill>
              <a:srgbClr val="136C78"/>
            </a:solidFill>
            <a:tailEnd type="triangle" w="med" len="med"/>
          </a:ln>
        </p:spPr>
      </p:cxnSp>
      <p:sp>
        <p:nvSpPr>
          <p:cNvPr id="18" name="Customer inputs label">
            <a:extLst>
              <a:ext uri="{FF2B5EF4-FFF2-40B4-BE49-F238E27FC236}">
                <a16:creationId xmlns:a16="http://schemas.microsoft.com/office/drawing/2014/main" id="{3B117A21-00F2-4600-9F44-E9D0702C703D}"/>
              </a:ext>
            </a:extLst>
          </p:cNvPr>
          <p:cNvSpPr>
            <a:spLocks noGrp="1"/>
          </p:cNvSpPr>
          <p:nvPr/>
        </p:nvSpPr>
        <p:spPr>
          <a:xfrm>
            <a:off x="3048000" y="2105025"/>
            <a:ext cx="3190875" cy="876300"/>
          </a:xfrm>
          <a:prstGeom prst="rect">
            <a:avLst/>
          </a:prstGeom>
          <a:noFill/>
          <a:ln w="0">
            <a:noFill/>
          </a:ln>
        </p:spPr>
        <p:txBody>
          <a:bodyPr anchor="ctr">
            <a:noAutofit/>
          </a:bodyPr>
          <a:lstStyle/>
          <a:p>
            <a:pPr algn="ctr">
              <a:defRPr sz="1500" b="0">
                <a:solidFill>
                  <a:srgbClr val="173447"/>
                </a:solidFill>
                <a:latin typeface="Arial"/>
                <a:ea typeface="Arial"/>
                <a:cs typeface="Arial"/>
              </a:defRPr>
            </a:pPr>
            <a:r>
              <a:rPr sz="1500" b="0">
                <a:solidFill>
                  <a:srgbClr val="173447"/>
                </a:solidFill>
                <a:latin typeface="Arial"/>
                <a:ea typeface="Arial"/>
                <a:cs typeface="Arial"/>
              </a:rPr>
              <a:t>Account data, searches,</a:t>
            </a:r>
          </a:p>
          <a:p>
            <a:pPr algn="ctr">
              <a:defRPr sz="1500" b="0">
                <a:solidFill>
                  <a:srgbClr val="173447"/>
                </a:solidFill>
                <a:latin typeface="Arial"/>
                <a:ea typeface="Arial"/>
                <a:cs typeface="Arial"/>
              </a:defRPr>
            </a:pPr>
            <a:r>
              <a:rPr sz="1500" b="0">
                <a:solidFill>
                  <a:srgbClr val="173447"/>
                </a:solidFill>
                <a:latin typeface="Arial"/>
                <a:ea typeface="Arial"/>
                <a:cs typeface="Arial"/>
              </a:rPr>
              <a:t>cart changes, orders,</a:t>
            </a:r>
          </a:p>
          <a:p>
            <a:pPr algn="ctr">
              <a:defRPr sz="1500" b="0">
                <a:solidFill>
                  <a:srgbClr val="173447"/>
                </a:solidFill>
                <a:latin typeface="Arial"/>
                <a:ea typeface="Arial"/>
                <a:cs typeface="Arial"/>
              </a:defRPr>
            </a:pPr>
            <a:r>
              <a:rPr sz="1500" b="0">
                <a:solidFill>
                  <a:srgbClr val="173447"/>
                </a:solidFill>
                <a:latin typeface="Arial"/>
                <a:ea typeface="Arial"/>
                <a:cs typeface="Arial"/>
              </a:rPr>
              <a:t>payment tokens, return requests</a:t>
            </a:r>
          </a:p>
        </p:txBody>
      </p:sp>
      <p:sp>
        <p:nvSpPr>
          <p:cNvPr id="19" name="Customer outputs source">
            <a:extLst>
              <a:ext uri="{FF2B5EF4-FFF2-40B4-BE49-F238E27FC236}">
                <a16:creationId xmlns:a16="http://schemas.microsoft.com/office/drawing/2014/main" id="{FB1ABB25-17CA-4620-B074-83531FE55F12}"/>
              </a:ext>
            </a:extLst>
          </p:cNvPr>
          <p:cNvSpPr>
            <a:spLocks noGrp="1"/>
          </p:cNvSpPr>
          <p:nvPr/>
        </p:nvSpPr>
        <p:spPr>
          <a:xfrm>
            <a:off x="6429375" y="4048125"/>
            <a:ext cx="0" cy="0"/>
          </a:xfrm>
          <a:prstGeom prst="rect">
            <a:avLst/>
          </a:prstGeom>
          <a:noFill/>
          <a:ln w="0">
            <a:noFill/>
          </a:ln>
        </p:spPr>
        <p:txBody>
          <a:bodyPr/>
          <a:lstStyle/>
          <a:p>
            <a:endParaRPr lang="en-US"/>
          </a:p>
        </p:txBody>
      </p:sp>
      <p:sp>
        <p:nvSpPr>
          <p:cNvPr id="20" name="Customer outputs target">
            <a:extLst>
              <a:ext uri="{FF2B5EF4-FFF2-40B4-BE49-F238E27FC236}">
                <a16:creationId xmlns:a16="http://schemas.microsoft.com/office/drawing/2014/main" id="{55C9F636-2B48-4542-8768-BE7AE8E43423}"/>
              </a:ext>
            </a:extLst>
          </p:cNvPr>
          <p:cNvSpPr>
            <a:spLocks noGrp="1"/>
          </p:cNvSpPr>
          <p:nvPr/>
        </p:nvSpPr>
        <p:spPr>
          <a:xfrm>
            <a:off x="2857500" y="4048125"/>
            <a:ext cx="0" cy="0"/>
          </a:xfrm>
          <a:prstGeom prst="rect">
            <a:avLst/>
          </a:prstGeom>
          <a:noFill/>
          <a:ln w="0">
            <a:noFill/>
          </a:ln>
        </p:spPr>
        <p:txBody>
          <a:bodyPr/>
          <a:lstStyle/>
          <a:p>
            <a:endParaRPr lang="en-US"/>
          </a:p>
        </p:txBody>
      </p:sp>
      <p:cxnSp>
        <p:nvCxnSpPr>
          <p:cNvPr id="21" name="Straight Arrow Connector 20"/>
          <p:cNvCxnSpPr>
            <a:stCxn id="19" idx="0"/>
            <a:endCxn id="20" idx="2"/>
          </p:cNvCxnSpPr>
          <p:nvPr/>
        </p:nvCxnSpPr>
        <p:spPr>
          <a:xfrm flipH="1">
            <a:off x="2857500" y="4048125"/>
            <a:ext cx="3571875" cy="0"/>
          </a:xfrm>
          <a:prstGeom prst="straightConnector1">
            <a:avLst/>
          </a:prstGeom>
          <a:ln w="23813">
            <a:solidFill>
              <a:srgbClr val="136C78"/>
            </a:solidFill>
            <a:tailEnd type="triangle" w="med" len="med"/>
          </a:ln>
        </p:spPr>
      </p:cxnSp>
      <p:sp>
        <p:nvSpPr>
          <p:cNvPr id="22" name="Customer outputs label">
            <a:extLst>
              <a:ext uri="{FF2B5EF4-FFF2-40B4-BE49-F238E27FC236}">
                <a16:creationId xmlns:a16="http://schemas.microsoft.com/office/drawing/2014/main" id="{677A90F3-AB82-4D6A-BCD6-4DC07166FA55}"/>
              </a:ext>
            </a:extLst>
          </p:cNvPr>
          <p:cNvSpPr>
            <a:spLocks noGrp="1"/>
          </p:cNvSpPr>
          <p:nvPr/>
        </p:nvSpPr>
        <p:spPr>
          <a:xfrm>
            <a:off x="3048000" y="3143250"/>
            <a:ext cx="3190875" cy="828675"/>
          </a:xfrm>
          <a:prstGeom prst="rect">
            <a:avLst/>
          </a:prstGeom>
          <a:noFill/>
          <a:ln w="0">
            <a:noFill/>
          </a:ln>
        </p:spPr>
        <p:txBody>
          <a:bodyPr anchor="ctr">
            <a:noAutofit/>
          </a:bodyPr>
          <a:lstStyle/>
          <a:p>
            <a:pPr algn="ctr">
              <a:defRPr sz="1500" b="0">
                <a:solidFill>
                  <a:srgbClr val="173447"/>
                </a:solidFill>
                <a:latin typeface="Arial"/>
                <a:ea typeface="Arial"/>
                <a:cs typeface="Arial"/>
              </a:defRPr>
            </a:pPr>
            <a:r>
              <a:rPr sz="1500" b="0">
                <a:solidFill>
                  <a:srgbClr val="173447"/>
                </a:solidFill>
                <a:latin typeface="Arial"/>
                <a:ea typeface="Arial"/>
                <a:cs typeface="Arial"/>
              </a:rPr>
              <a:t>Account and card details,</a:t>
            </a:r>
          </a:p>
          <a:p>
            <a:pPr algn="ctr">
              <a:defRPr sz="1500" b="0">
                <a:solidFill>
                  <a:srgbClr val="173447"/>
                </a:solidFill>
                <a:latin typeface="Arial"/>
                <a:ea typeface="Arial"/>
                <a:cs typeface="Arial"/>
              </a:defRPr>
            </a:pPr>
            <a:r>
              <a:rPr sz="1500" b="0">
                <a:solidFill>
                  <a:srgbClr val="173447"/>
                </a:solidFill>
                <a:latin typeface="Arial"/>
                <a:ea typeface="Arial"/>
                <a:cs typeface="Arial"/>
              </a:rPr>
              <a:t>cart totals, confirmations,</a:t>
            </a:r>
          </a:p>
          <a:p>
            <a:pPr algn="ctr">
              <a:defRPr sz="1500" b="0">
                <a:solidFill>
                  <a:srgbClr val="173447"/>
                </a:solidFill>
                <a:latin typeface="Arial"/>
                <a:ea typeface="Arial"/>
                <a:cs typeface="Arial"/>
              </a:defRPr>
            </a:pPr>
            <a:r>
              <a:rPr sz="1500" b="0">
                <a:solidFill>
                  <a:srgbClr val="173447"/>
                </a:solidFill>
                <a:latin typeface="Arial"/>
                <a:ea typeface="Arial"/>
                <a:cs typeface="Arial"/>
              </a:rPr>
              <a:t>shipment and return status</a:t>
            </a:r>
          </a:p>
        </p:txBody>
      </p:sp>
      <p:sp>
        <p:nvSpPr>
          <p:cNvPr id="23" name="Admin inputs source">
            <a:extLst>
              <a:ext uri="{FF2B5EF4-FFF2-40B4-BE49-F238E27FC236}">
                <a16:creationId xmlns:a16="http://schemas.microsoft.com/office/drawing/2014/main" id="{691C34D6-D027-421A-AA81-73A16D92ACCF}"/>
              </a:ext>
            </a:extLst>
          </p:cNvPr>
          <p:cNvSpPr>
            <a:spLocks noGrp="1"/>
          </p:cNvSpPr>
          <p:nvPr/>
        </p:nvSpPr>
        <p:spPr>
          <a:xfrm>
            <a:off x="2857500" y="5762625"/>
            <a:ext cx="0" cy="0"/>
          </a:xfrm>
          <a:prstGeom prst="rect">
            <a:avLst/>
          </a:prstGeom>
          <a:noFill/>
          <a:ln w="0">
            <a:noFill/>
          </a:ln>
        </p:spPr>
        <p:txBody>
          <a:bodyPr/>
          <a:lstStyle/>
          <a:p>
            <a:endParaRPr lang="en-US"/>
          </a:p>
        </p:txBody>
      </p:sp>
      <p:sp>
        <p:nvSpPr>
          <p:cNvPr id="24" name="Admin inputs target">
            <a:extLst>
              <a:ext uri="{FF2B5EF4-FFF2-40B4-BE49-F238E27FC236}">
                <a16:creationId xmlns:a16="http://schemas.microsoft.com/office/drawing/2014/main" id="{30CD35D5-D084-476F-A74C-D002A642C4E8}"/>
              </a:ext>
            </a:extLst>
          </p:cNvPr>
          <p:cNvSpPr>
            <a:spLocks noGrp="1"/>
          </p:cNvSpPr>
          <p:nvPr/>
        </p:nvSpPr>
        <p:spPr>
          <a:xfrm>
            <a:off x="6429375" y="5762625"/>
            <a:ext cx="0" cy="0"/>
          </a:xfrm>
          <a:prstGeom prst="rect">
            <a:avLst/>
          </a:prstGeom>
          <a:noFill/>
          <a:ln w="0">
            <a:noFill/>
          </a:ln>
        </p:spPr>
        <p:txBody>
          <a:bodyPr/>
          <a:lstStyle/>
          <a:p>
            <a:endParaRPr lang="en-US"/>
          </a:p>
        </p:txBody>
      </p:sp>
      <p:cxnSp>
        <p:nvCxnSpPr>
          <p:cNvPr id="25" name="Straight Arrow Connector 24"/>
          <p:cNvCxnSpPr>
            <a:stCxn id="23" idx="2"/>
            <a:endCxn id="24" idx="0"/>
          </p:cNvCxnSpPr>
          <p:nvPr/>
        </p:nvCxnSpPr>
        <p:spPr>
          <a:xfrm>
            <a:off x="2857500" y="5762625"/>
            <a:ext cx="3571875" cy="0"/>
          </a:xfrm>
          <a:prstGeom prst="straightConnector1">
            <a:avLst/>
          </a:prstGeom>
          <a:ln w="23813">
            <a:solidFill>
              <a:srgbClr val="136C78"/>
            </a:solidFill>
            <a:tailEnd type="triangle" w="med" len="med"/>
          </a:ln>
        </p:spPr>
      </p:cxnSp>
      <p:sp>
        <p:nvSpPr>
          <p:cNvPr id="26" name="Admin inputs label">
            <a:extLst>
              <a:ext uri="{FF2B5EF4-FFF2-40B4-BE49-F238E27FC236}">
                <a16:creationId xmlns:a16="http://schemas.microsoft.com/office/drawing/2014/main" id="{46625CE9-4226-4D83-A3F7-DB73795A6CFA}"/>
              </a:ext>
            </a:extLst>
          </p:cNvPr>
          <p:cNvSpPr>
            <a:spLocks noGrp="1"/>
          </p:cNvSpPr>
          <p:nvPr/>
        </p:nvSpPr>
        <p:spPr>
          <a:xfrm>
            <a:off x="3048000" y="5000625"/>
            <a:ext cx="3190875" cy="685800"/>
          </a:xfrm>
          <a:prstGeom prst="rect">
            <a:avLst/>
          </a:prstGeom>
          <a:noFill/>
          <a:ln w="0">
            <a:noFill/>
          </a:ln>
        </p:spPr>
        <p:txBody>
          <a:bodyPr anchor="ctr">
            <a:noAutofit/>
          </a:bodyPr>
          <a:lstStyle/>
          <a:p>
            <a:pPr algn="ctr">
              <a:defRPr sz="1500" b="0">
                <a:solidFill>
                  <a:srgbClr val="173447"/>
                </a:solidFill>
                <a:latin typeface="Arial"/>
                <a:ea typeface="Arial"/>
                <a:cs typeface="Arial"/>
              </a:defRPr>
            </a:pPr>
            <a:r>
              <a:rPr sz="1500" b="0">
                <a:solidFill>
                  <a:srgbClr val="173447"/>
                </a:solidFill>
                <a:latin typeface="Arial"/>
                <a:ea typeface="Arial"/>
                <a:cs typeface="Arial"/>
              </a:rPr>
              <a:t>Product, pricing, inventory</a:t>
            </a:r>
          </a:p>
          <a:p>
            <a:pPr algn="ctr">
              <a:defRPr sz="1500" b="0">
                <a:solidFill>
                  <a:srgbClr val="173447"/>
                </a:solidFill>
                <a:latin typeface="Arial"/>
                <a:ea typeface="Arial"/>
                <a:cs typeface="Arial"/>
              </a:defRPr>
            </a:pPr>
            <a:r>
              <a:rPr sz="1500" b="0">
                <a:solidFill>
                  <a:srgbClr val="173447"/>
                </a:solidFill>
                <a:latin typeface="Arial"/>
                <a:ea typeface="Arial"/>
                <a:cs typeface="Arial"/>
              </a:rPr>
              <a:t>and fulfillment updates</a:t>
            </a:r>
          </a:p>
        </p:txBody>
      </p:sp>
      <p:sp>
        <p:nvSpPr>
          <p:cNvPr id="27" name="Admin outputs source">
            <a:extLst>
              <a:ext uri="{FF2B5EF4-FFF2-40B4-BE49-F238E27FC236}">
                <a16:creationId xmlns:a16="http://schemas.microsoft.com/office/drawing/2014/main" id="{F57B855C-B75B-4F9D-A5C2-DEF0D8D01A63}"/>
              </a:ext>
            </a:extLst>
          </p:cNvPr>
          <p:cNvSpPr>
            <a:spLocks noGrp="1"/>
          </p:cNvSpPr>
          <p:nvPr/>
        </p:nvSpPr>
        <p:spPr>
          <a:xfrm>
            <a:off x="6429375" y="6762750"/>
            <a:ext cx="0" cy="0"/>
          </a:xfrm>
          <a:prstGeom prst="rect">
            <a:avLst/>
          </a:prstGeom>
          <a:noFill/>
          <a:ln w="0">
            <a:noFill/>
          </a:ln>
        </p:spPr>
        <p:txBody>
          <a:bodyPr/>
          <a:lstStyle/>
          <a:p>
            <a:endParaRPr lang="en-US"/>
          </a:p>
        </p:txBody>
      </p:sp>
      <p:sp>
        <p:nvSpPr>
          <p:cNvPr id="28" name="Admin outputs target">
            <a:extLst>
              <a:ext uri="{FF2B5EF4-FFF2-40B4-BE49-F238E27FC236}">
                <a16:creationId xmlns:a16="http://schemas.microsoft.com/office/drawing/2014/main" id="{CD110FB5-DBD9-434A-9FB7-05165D14B9B4}"/>
              </a:ext>
            </a:extLst>
          </p:cNvPr>
          <p:cNvSpPr>
            <a:spLocks noGrp="1"/>
          </p:cNvSpPr>
          <p:nvPr/>
        </p:nvSpPr>
        <p:spPr>
          <a:xfrm>
            <a:off x="2857500" y="6762750"/>
            <a:ext cx="0" cy="0"/>
          </a:xfrm>
          <a:prstGeom prst="rect">
            <a:avLst/>
          </a:prstGeom>
          <a:noFill/>
          <a:ln w="0">
            <a:noFill/>
          </a:ln>
        </p:spPr>
        <p:txBody>
          <a:bodyPr/>
          <a:lstStyle/>
          <a:p>
            <a:endParaRPr lang="en-US"/>
          </a:p>
        </p:txBody>
      </p:sp>
      <p:cxnSp>
        <p:nvCxnSpPr>
          <p:cNvPr id="29" name="Straight Arrow Connector 28"/>
          <p:cNvCxnSpPr>
            <a:stCxn id="27" idx="0"/>
            <a:endCxn id="28" idx="2"/>
          </p:cNvCxnSpPr>
          <p:nvPr/>
        </p:nvCxnSpPr>
        <p:spPr>
          <a:xfrm flipH="1">
            <a:off x="2857500" y="6762750"/>
            <a:ext cx="3571875" cy="0"/>
          </a:xfrm>
          <a:prstGeom prst="straightConnector1">
            <a:avLst/>
          </a:prstGeom>
          <a:ln w="23813">
            <a:solidFill>
              <a:srgbClr val="136C78"/>
            </a:solidFill>
            <a:tailEnd type="triangle" w="med" len="med"/>
          </a:ln>
        </p:spPr>
      </p:cxnSp>
      <p:sp>
        <p:nvSpPr>
          <p:cNvPr id="30" name="Admin outputs label">
            <a:extLst>
              <a:ext uri="{FF2B5EF4-FFF2-40B4-BE49-F238E27FC236}">
                <a16:creationId xmlns:a16="http://schemas.microsoft.com/office/drawing/2014/main" id="{8CAE9585-9EF0-4BCA-BDBA-F29DBEE60902}"/>
              </a:ext>
            </a:extLst>
          </p:cNvPr>
          <p:cNvSpPr>
            <a:spLocks noGrp="1"/>
          </p:cNvSpPr>
          <p:nvPr/>
        </p:nvSpPr>
        <p:spPr>
          <a:xfrm>
            <a:off x="3048000" y="6000750"/>
            <a:ext cx="3190875" cy="685800"/>
          </a:xfrm>
          <a:prstGeom prst="rect">
            <a:avLst/>
          </a:prstGeom>
          <a:noFill/>
          <a:ln w="0">
            <a:noFill/>
          </a:ln>
        </p:spPr>
        <p:txBody>
          <a:bodyPr anchor="ctr">
            <a:noAutofit/>
          </a:bodyPr>
          <a:lstStyle/>
          <a:p>
            <a:pPr algn="ctr">
              <a:defRPr sz="1500" b="0">
                <a:solidFill>
                  <a:srgbClr val="173447"/>
                </a:solidFill>
                <a:latin typeface="Arial"/>
                <a:ea typeface="Arial"/>
                <a:cs typeface="Arial"/>
              </a:defRPr>
            </a:pPr>
            <a:r>
              <a:rPr sz="1500" b="0">
                <a:solidFill>
                  <a:srgbClr val="173447"/>
                </a:solidFill>
                <a:latin typeface="Arial"/>
                <a:ea typeface="Arial"/>
                <a:cs typeface="Arial"/>
              </a:rPr>
              <a:t>Management reports</a:t>
            </a:r>
          </a:p>
          <a:p>
            <a:pPr algn="ctr">
              <a:defRPr sz="1500" b="0">
                <a:solidFill>
                  <a:srgbClr val="173447"/>
                </a:solidFill>
                <a:latin typeface="Arial"/>
                <a:ea typeface="Arial"/>
                <a:cs typeface="Arial"/>
              </a:defRPr>
            </a:pPr>
            <a:r>
              <a:rPr sz="1500" b="0">
                <a:solidFill>
                  <a:srgbClr val="173447"/>
                </a:solidFill>
                <a:latin typeface="Arial"/>
                <a:ea typeface="Arial"/>
                <a:cs typeface="Arial"/>
              </a:rPr>
              <a:t>and fulfillment pick lists</a:t>
            </a:r>
          </a:p>
        </p:txBody>
      </p:sp>
      <p:sp>
        <p:nvSpPr>
          <p:cNvPr id="31" name="Payment request source">
            <a:extLst>
              <a:ext uri="{FF2B5EF4-FFF2-40B4-BE49-F238E27FC236}">
                <a16:creationId xmlns:a16="http://schemas.microsoft.com/office/drawing/2014/main" id="{F488C22E-1B62-4A9D-9A96-C9D4BAEFD740}"/>
              </a:ext>
            </a:extLst>
          </p:cNvPr>
          <p:cNvSpPr>
            <a:spLocks noGrp="1"/>
          </p:cNvSpPr>
          <p:nvPr/>
        </p:nvSpPr>
        <p:spPr>
          <a:xfrm>
            <a:off x="8810625" y="3048000"/>
            <a:ext cx="0" cy="0"/>
          </a:xfrm>
          <a:prstGeom prst="rect">
            <a:avLst/>
          </a:prstGeom>
          <a:noFill/>
          <a:ln w="0">
            <a:noFill/>
          </a:ln>
        </p:spPr>
        <p:txBody>
          <a:bodyPr/>
          <a:lstStyle/>
          <a:p>
            <a:endParaRPr lang="en-US"/>
          </a:p>
        </p:txBody>
      </p:sp>
      <p:sp>
        <p:nvSpPr>
          <p:cNvPr id="32" name="Payment request target">
            <a:extLst>
              <a:ext uri="{FF2B5EF4-FFF2-40B4-BE49-F238E27FC236}">
                <a16:creationId xmlns:a16="http://schemas.microsoft.com/office/drawing/2014/main" id="{9E10D86B-8D07-4BC6-AE61-1251F24ED1D7}"/>
              </a:ext>
            </a:extLst>
          </p:cNvPr>
          <p:cNvSpPr>
            <a:spLocks noGrp="1"/>
          </p:cNvSpPr>
          <p:nvPr/>
        </p:nvSpPr>
        <p:spPr>
          <a:xfrm>
            <a:off x="12382500" y="3048000"/>
            <a:ext cx="0" cy="0"/>
          </a:xfrm>
          <a:prstGeom prst="rect">
            <a:avLst/>
          </a:prstGeom>
          <a:noFill/>
          <a:ln w="0">
            <a:noFill/>
          </a:ln>
        </p:spPr>
        <p:txBody>
          <a:bodyPr/>
          <a:lstStyle/>
          <a:p>
            <a:endParaRPr lang="en-US"/>
          </a:p>
        </p:txBody>
      </p:sp>
      <p:cxnSp>
        <p:nvCxnSpPr>
          <p:cNvPr id="33" name="Straight Arrow Connector 32"/>
          <p:cNvCxnSpPr>
            <a:stCxn id="31" idx="2"/>
            <a:endCxn id="32" idx="0"/>
          </p:cNvCxnSpPr>
          <p:nvPr/>
        </p:nvCxnSpPr>
        <p:spPr>
          <a:xfrm>
            <a:off x="8810625" y="3048000"/>
            <a:ext cx="3571875" cy="0"/>
          </a:xfrm>
          <a:prstGeom prst="straightConnector1">
            <a:avLst/>
          </a:prstGeom>
          <a:ln w="23813">
            <a:solidFill>
              <a:srgbClr val="136C78"/>
            </a:solidFill>
            <a:tailEnd type="triangle" w="med" len="med"/>
          </a:ln>
        </p:spPr>
      </p:cxnSp>
      <p:sp>
        <p:nvSpPr>
          <p:cNvPr id="34" name="Payment request label">
            <a:extLst>
              <a:ext uri="{FF2B5EF4-FFF2-40B4-BE49-F238E27FC236}">
                <a16:creationId xmlns:a16="http://schemas.microsoft.com/office/drawing/2014/main" id="{8E34252F-C5B8-4805-BA49-E3320FE61968}"/>
              </a:ext>
            </a:extLst>
          </p:cNvPr>
          <p:cNvSpPr>
            <a:spLocks noGrp="1"/>
          </p:cNvSpPr>
          <p:nvPr/>
        </p:nvSpPr>
        <p:spPr>
          <a:xfrm>
            <a:off x="9001125" y="2286000"/>
            <a:ext cx="3190875" cy="685800"/>
          </a:xfrm>
          <a:prstGeom prst="rect">
            <a:avLst/>
          </a:prstGeom>
          <a:noFill/>
          <a:ln w="0">
            <a:noFill/>
          </a:ln>
        </p:spPr>
        <p:txBody>
          <a:bodyPr anchor="ctr">
            <a:noAutofit/>
          </a:bodyPr>
          <a:lstStyle/>
          <a:p>
            <a:pPr algn="ctr">
              <a:defRPr sz="1500" b="0">
                <a:solidFill>
                  <a:srgbClr val="173447"/>
                </a:solidFill>
                <a:latin typeface="Arial"/>
                <a:ea typeface="Arial"/>
                <a:cs typeface="Arial"/>
              </a:defRPr>
            </a:pPr>
            <a:r>
              <a:rPr sz="1500" b="0">
                <a:solidFill>
                  <a:srgbClr val="173447"/>
                </a:solidFill>
                <a:latin typeface="Arial"/>
                <a:ea typeface="Arial"/>
                <a:cs typeface="Arial"/>
              </a:rPr>
              <a:t>Payment authorization</a:t>
            </a:r>
          </a:p>
          <a:p>
            <a:pPr algn="ctr">
              <a:defRPr sz="1500" b="0">
                <a:solidFill>
                  <a:srgbClr val="173447"/>
                </a:solidFill>
                <a:latin typeface="Arial"/>
                <a:ea typeface="Arial"/>
                <a:cs typeface="Arial"/>
              </a:defRPr>
            </a:pPr>
            <a:r>
              <a:rPr sz="1500" b="0">
                <a:solidFill>
                  <a:srgbClr val="173447"/>
                </a:solidFill>
                <a:latin typeface="Arial"/>
                <a:ea typeface="Arial"/>
                <a:cs typeface="Arial"/>
              </a:rPr>
              <a:t>requests</a:t>
            </a:r>
          </a:p>
        </p:txBody>
      </p:sp>
      <p:sp>
        <p:nvSpPr>
          <p:cNvPr id="35" name="Payment response source">
            <a:extLst>
              <a:ext uri="{FF2B5EF4-FFF2-40B4-BE49-F238E27FC236}">
                <a16:creationId xmlns:a16="http://schemas.microsoft.com/office/drawing/2014/main" id="{363901BD-2698-4E68-A743-34F926AF789E}"/>
              </a:ext>
            </a:extLst>
          </p:cNvPr>
          <p:cNvSpPr>
            <a:spLocks noGrp="1"/>
          </p:cNvSpPr>
          <p:nvPr/>
        </p:nvSpPr>
        <p:spPr>
          <a:xfrm>
            <a:off x="12382500" y="4048125"/>
            <a:ext cx="0" cy="0"/>
          </a:xfrm>
          <a:prstGeom prst="rect">
            <a:avLst/>
          </a:prstGeom>
          <a:noFill/>
          <a:ln w="0">
            <a:noFill/>
          </a:ln>
        </p:spPr>
        <p:txBody>
          <a:bodyPr/>
          <a:lstStyle/>
          <a:p>
            <a:endParaRPr lang="en-US"/>
          </a:p>
        </p:txBody>
      </p:sp>
      <p:sp>
        <p:nvSpPr>
          <p:cNvPr id="36" name="Payment response target">
            <a:extLst>
              <a:ext uri="{FF2B5EF4-FFF2-40B4-BE49-F238E27FC236}">
                <a16:creationId xmlns:a16="http://schemas.microsoft.com/office/drawing/2014/main" id="{C27C2780-3CA5-4483-93F4-AC095A0BAE15}"/>
              </a:ext>
            </a:extLst>
          </p:cNvPr>
          <p:cNvSpPr>
            <a:spLocks noGrp="1"/>
          </p:cNvSpPr>
          <p:nvPr/>
        </p:nvSpPr>
        <p:spPr>
          <a:xfrm>
            <a:off x="8810625" y="4048125"/>
            <a:ext cx="0" cy="0"/>
          </a:xfrm>
          <a:prstGeom prst="rect">
            <a:avLst/>
          </a:prstGeom>
          <a:noFill/>
          <a:ln w="0">
            <a:noFill/>
          </a:ln>
        </p:spPr>
        <p:txBody>
          <a:bodyPr/>
          <a:lstStyle/>
          <a:p>
            <a:endParaRPr lang="en-US"/>
          </a:p>
        </p:txBody>
      </p:sp>
      <p:cxnSp>
        <p:nvCxnSpPr>
          <p:cNvPr id="37" name="Straight Arrow Connector 36"/>
          <p:cNvCxnSpPr>
            <a:stCxn id="35" idx="0"/>
            <a:endCxn id="36" idx="2"/>
          </p:cNvCxnSpPr>
          <p:nvPr/>
        </p:nvCxnSpPr>
        <p:spPr>
          <a:xfrm flipH="1">
            <a:off x="8810625" y="4048125"/>
            <a:ext cx="3571875" cy="0"/>
          </a:xfrm>
          <a:prstGeom prst="straightConnector1">
            <a:avLst/>
          </a:prstGeom>
          <a:ln w="23813">
            <a:solidFill>
              <a:srgbClr val="136C78"/>
            </a:solidFill>
            <a:tailEnd type="triangle" w="med" len="med"/>
          </a:ln>
        </p:spPr>
      </p:cxnSp>
      <p:sp>
        <p:nvSpPr>
          <p:cNvPr id="38" name="Payment response label">
            <a:extLst>
              <a:ext uri="{FF2B5EF4-FFF2-40B4-BE49-F238E27FC236}">
                <a16:creationId xmlns:a16="http://schemas.microsoft.com/office/drawing/2014/main" id="{B2CEE1E1-DBE5-4009-94D4-429A3C403FEC}"/>
              </a:ext>
            </a:extLst>
          </p:cNvPr>
          <p:cNvSpPr>
            <a:spLocks noGrp="1"/>
          </p:cNvSpPr>
          <p:nvPr/>
        </p:nvSpPr>
        <p:spPr>
          <a:xfrm>
            <a:off x="9001125" y="3286125"/>
            <a:ext cx="3190875" cy="685800"/>
          </a:xfrm>
          <a:prstGeom prst="rect">
            <a:avLst/>
          </a:prstGeom>
          <a:noFill/>
          <a:ln w="0">
            <a:noFill/>
          </a:ln>
        </p:spPr>
        <p:txBody>
          <a:bodyPr anchor="ctr">
            <a:noAutofit/>
          </a:bodyPr>
          <a:lstStyle/>
          <a:p>
            <a:pPr algn="ctr">
              <a:defRPr sz="1500" b="0">
                <a:solidFill>
                  <a:srgbClr val="173447"/>
                </a:solidFill>
                <a:latin typeface="Arial"/>
                <a:ea typeface="Arial"/>
                <a:cs typeface="Arial"/>
              </a:defRPr>
            </a:pPr>
            <a:r>
              <a:rPr sz="1500" b="0">
                <a:solidFill>
                  <a:srgbClr val="173447"/>
                </a:solidFill>
                <a:latin typeface="Arial"/>
                <a:ea typeface="Arial"/>
                <a:cs typeface="Arial"/>
              </a:rPr>
              <a:t>Authorization results</a:t>
            </a:r>
          </a:p>
          <a:p>
            <a:pPr algn="ctr">
              <a:defRPr sz="1500" b="0">
                <a:solidFill>
                  <a:srgbClr val="173447"/>
                </a:solidFill>
                <a:latin typeface="Arial"/>
                <a:ea typeface="Arial"/>
                <a:cs typeface="Arial"/>
              </a:defRPr>
            </a:pPr>
            <a:r>
              <a:rPr sz="1500" b="0">
                <a:solidFill>
                  <a:srgbClr val="173447"/>
                </a:solidFill>
                <a:latin typeface="Arial"/>
                <a:ea typeface="Arial"/>
                <a:cs typeface="Arial"/>
              </a:rPr>
              <a:t>and transaction status</a:t>
            </a:r>
          </a:p>
        </p:txBody>
      </p:sp>
      <p:sp>
        <p:nvSpPr>
          <p:cNvPr id="39" name="Shipping request source">
            <a:extLst>
              <a:ext uri="{FF2B5EF4-FFF2-40B4-BE49-F238E27FC236}">
                <a16:creationId xmlns:a16="http://schemas.microsoft.com/office/drawing/2014/main" id="{0DC1DD83-CDCC-4D14-A50C-2FF2715F435C}"/>
              </a:ext>
            </a:extLst>
          </p:cNvPr>
          <p:cNvSpPr>
            <a:spLocks noGrp="1"/>
          </p:cNvSpPr>
          <p:nvPr/>
        </p:nvSpPr>
        <p:spPr>
          <a:xfrm>
            <a:off x="8810625" y="5762625"/>
            <a:ext cx="0" cy="0"/>
          </a:xfrm>
          <a:prstGeom prst="rect">
            <a:avLst/>
          </a:prstGeom>
          <a:noFill/>
          <a:ln w="0">
            <a:noFill/>
          </a:ln>
        </p:spPr>
        <p:txBody>
          <a:bodyPr/>
          <a:lstStyle/>
          <a:p>
            <a:endParaRPr lang="en-US"/>
          </a:p>
        </p:txBody>
      </p:sp>
      <p:sp>
        <p:nvSpPr>
          <p:cNvPr id="40" name="Shipping request target">
            <a:extLst>
              <a:ext uri="{FF2B5EF4-FFF2-40B4-BE49-F238E27FC236}">
                <a16:creationId xmlns:a16="http://schemas.microsoft.com/office/drawing/2014/main" id="{52A0ACF5-99CA-47B1-9098-108A443F8EE1}"/>
              </a:ext>
            </a:extLst>
          </p:cNvPr>
          <p:cNvSpPr>
            <a:spLocks noGrp="1"/>
          </p:cNvSpPr>
          <p:nvPr/>
        </p:nvSpPr>
        <p:spPr>
          <a:xfrm>
            <a:off x="12382500" y="5762625"/>
            <a:ext cx="0" cy="0"/>
          </a:xfrm>
          <a:prstGeom prst="rect">
            <a:avLst/>
          </a:prstGeom>
          <a:noFill/>
          <a:ln w="0">
            <a:noFill/>
          </a:ln>
        </p:spPr>
        <p:txBody>
          <a:bodyPr/>
          <a:lstStyle/>
          <a:p>
            <a:endParaRPr lang="en-US"/>
          </a:p>
        </p:txBody>
      </p:sp>
      <p:cxnSp>
        <p:nvCxnSpPr>
          <p:cNvPr id="41" name="Straight Arrow Connector 40"/>
          <p:cNvCxnSpPr>
            <a:stCxn id="39" idx="2"/>
            <a:endCxn id="40" idx="0"/>
          </p:cNvCxnSpPr>
          <p:nvPr/>
        </p:nvCxnSpPr>
        <p:spPr>
          <a:xfrm>
            <a:off x="8810625" y="5762625"/>
            <a:ext cx="3571875" cy="0"/>
          </a:xfrm>
          <a:prstGeom prst="straightConnector1">
            <a:avLst/>
          </a:prstGeom>
          <a:ln w="23813">
            <a:solidFill>
              <a:srgbClr val="136C78"/>
            </a:solidFill>
            <a:tailEnd type="triangle" w="med" len="med"/>
          </a:ln>
        </p:spPr>
      </p:cxnSp>
      <p:sp>
        <p:nvSpPr>
          <p:cNvPr id="42" name="Shipping request label">
            <a:extLst>
              <a:ext uri="{FF2B5EF4-FFF2-40B4-BE49-F238E27FC236}">
                <a16:creationId xmlns:a16="http://schemas.microsoft.com/office/drawing/2014/main" id="{4AEB9794-DD1D-47B6-86A6-D7B45E990F08}"/>
              </a:ext>
            </a:extLst>
          </p:cNvPr>
          <p:cNvSpPr>
            <a:spLocks noGrp="1"/>
          </p:cNvSpPr>
          <p:nvPr/>
        </p:nvSpPr>
        <p:spPr>
          <a:xfrm>
            <a:off x="9001125" y="5219700"/>
            <a:ext cx="3190875" cy="457200"/>
          </a:xfrm>
          <a:prstGeom prst="rect">
            <a:avLst/>
          </a:prstGeom>
          <a:noFill/>
          <a:ln w="0">
            <a:noFill/>
          </a:ln>
        </p:spPr>
        <p:txBody>
          <a:bodyPr anchor="ctr">
            <a:noAutofit/>
          </a:bodyPr>
          <a:lstStyle/>
          <a:p>
            <a:pPr algn="ctr">
              <a:defRPr sz="1500" b="0">
                <a:solidFill>
                  <a:srgbClr val="173447"/>
                </a:solidFill>
                <a:latin typeface="Arial"/>
                <a:ea typeface="Arial"/>
                <a:cs typeface="Arial"/>
              </a:defRPr>
            </a:pPr>
            <a:r>
              <a:rPr sz="1500" b="0">
                <a:solidFill>
                  <a:srgbClr val="173447"/>
                </a:solidFill>
                <a:latin typeface="Arial"/>
                <a:ea typeface="Arial"/>
                <a:cs typeface="Arial"/>
              </a:rPr>
              <a:t>Shipment requests</a:t>
            </a:r>
          </a:p>
        </p:txBody>
      </p:sp>
      <p:sp>
        <p:nvSpPr>
          <p:cNvPr id="43" name="Shipping response source">
            <a:extLst>
              <a:ext uri="{FF2B5EF4-FFF2-40B4-BE49-F238E27FC236}">
                <a16:creationId xmlns:a16="http://schemas.microsoft.com/office/drawing/2014/main" id="{7C676352-8BB6-49B5-A195-8530879F5F3E}"/>
              </a:ext>
            </a:extLst>
          </p:cNvPr>
          <p:cNvSpPr>
            <a:spLocks noGrp="1"/>
          </p:cNvSpPr>
          <p:nvPr/>
        </p:nvSpPr>
        <p:spPr>
          <a:xfrm>
            <a:off x="12382500" y="6762750"/>
            <a:ext cx="0" cy="0"/>
          </a:xfrm>
          <a:prstGeom prst="rect">
            <a:avLst/>
          </a:prstGeom>
          <a:noFill/>
          <a:ln w="0">
            <a:noFill/>
          </a:ln>
        </p:spPr>
        <p:txBody>
          <a:bodyPr/>
          <a:lstStyle/>
          <a:p>
            <a:endParaRPr lang="en-US"/>
          </a:p>
        </p:txBody>
      </p:sp>
      <p:sp>
        <p:nvSpPr>
          <p:cNvPr id="44" name="Shipping response target">
            <a:extLst>
              <a:ext uri="{FF2B5EF4-FFF2-40B4-BE49-F238E27FC236}">
                <a16:creationId xmlns:a16="http://schemas.microsoft.com/office/drawing/2014/main" id="{1FEF6584-DD02-476A-92CC-6D1FA0342138}"/>
              </a:ext>
            </a:extLst>
          </p:cNvPr>
          <p:cNvSpPr>
            <a:spLocks noGrp="1"/>
          </p:cNvSpPr>
          <p:nvPr/>
        </p:nvSpPr>
        <p:spPr>
          <a:xfrm>
            <a:off x="8810625" y="6762750"/>
            <a:ext cx="0" cy="0"/>
          </a:xfrm>
          <a:prstGeom prst="rect">
            <a:avLst/>
          </a:prstGeom>
          <a:noFill/>
          <a:ln w="0">
            <a:noFill/>
          </a:ln>
        </p:spPr>
        <p:txBody>
          <a:bodyPr/>
          <a:lstStyle/>
          <a:p>
            <a:endParaRPr lang="en-US"/>
          </a:p>
        </p:txBody>
      </p:sp>
      <p:cxnSp>
        <p:nvCxnSpPr>
          <p:cNvPr id="45" name="Straight Arrow Connector 44"/>
          <p:cNvCxnSpPr>
            <a:stCxn id="43" idx="0"/>
            <a:endCxn id="44" idx="2"/>
          </p:cNvCxnSpPr>
          <p:nvPr/>
        </p:nvCxnSpPr>
        <p:spPr>
          <a:xfrm flipH="1">
            <a:off x="8810625" y="6762750"/>
            <a:ext cx="3571875" cy="0"/>
          </a:xfrm>
          <a:prstGeom prst="straightConnector1">
            <a:avLst/>
          </a:prstGeom>
          <a:ln w="23813">
            <a:solidFill>
              <a:srgbClr val="136C78"/>
            </a:solidFill>
            <a:tailEnd type="triangle" w="med" len="med"/>
          </a:ln>
        </p:spPr>
      </p:cxnSp>
      <p:sp>
        <p:nvSpPr>
          <p:cNvPr id="46" name="Shipping response label">
            <a:extLst>
              <a:ext uri="{FF2B5EF4-FFF2-40B4-BE49-F238E27FC236}">
                <a16:creationId xmlns:a16="http://schemas.microsoft.com/office/drawing/2014/main" id="{BC4917BC-2B3D-4E57-B505-54924B2C18D6}"/>
              </a:ext>
            </a:extLst>
          </p:cNvPr>
          <p:cNvSpPr>
            <a:spLocks noGrp="1"/>
          </p:cNvSpPr>
          <p:nvPr/>
        </p:nvSpPr>
        <p:spPr>
          <a:xfrm>
            <a:off x="9001125" y="6219825"/>
            <a:ext cx="3190875" cy="457200"/>
          </a:xfrm>
          <a:prstGeom prst="rect">
            <a:avLst/>
          </a:prstGeom>
          <a:noFill/>
          <a:ln w="0">
            <a:noFill/>
          </a:ln>
        </p:spPr>
        <p:txBody>
          <a:bodyPr anchor="ctr">
            <a:noAutofit/>
          </a:bodyPr>
          <a:lstStyle/>
          <a:p>
            <a:pPr algn="ctr">
              <a:defRPr sz="1500" b="0">
                <a:solidFill>
                  <a:srgbClr val="173447"/>
                </a:solidFill>
                <a:latin typeface="Arial"/>
                <a:ea typeface="Arial"/>
                <a:cs typeface="Arial"/>
              </a:defRPr>
            </a:pPr>
            <a:r>
              <a:rPr sz="1500" b="0">
                <a:solidFill>
                  <a:srgbClr val="173447"/>
                </a:solidFill>
                <a:latin typeface="Arial"/>
                <a:ea typeface="Arial"/>
                <a:cs typeface="Arial"/>
              </a:rPr>
              <a:t>Tracking updates</a:t>
            </a:r>
          </a:p>
        </p:txBody>
      </p:sp>
      <p:sp>
        <p:nvSpPr>
          <p:cNvPr id="47" name="Scope note">
            <a:extLst>
              <a:ext uri="{FF2B5EF4-FFF2-40B4-BE49-F238E27FC236}">
                <a16:creationId xmlns:a16="http://schemas.microsoft.com/office/drawing/2014/main" id="{ECC04E3C-F8F5-48F9-AC06-F673F74E9C8F}"/>
              </a:ext>
            </a:extLst>
          </p:cNvPr>
          <p:cNvSpPr>
            <a:spLocks noGrp="1"/>
          </p:cNvSpPr>
          <p:nvPr/>
        </p:nvSpPr>
        <p:spPr>
          <a:xfrm>
            <a:off x="552450" y="7639050"/>
            <a:ext cx="14135100" cy="400050"/>
          </a:xfrm>
          <a:prstGeom prst="rect">
            <a:avLst/>
          </a:prstGeom>
          <a:noFill/>
          <a:ln w="0">
            <a:noFill/>
          </a:ln>
        </p:spPr>
        <p:txBody>
          <a:bodyPr anchor="ctr">
            <a:noAutofit/>
          </a:bodyPr>
          <a:lstStyle/>
          <a:p>
            <a:pPr algn="l">
              <a:defRPr sz="1575" b="0">
                <a:solidFill>
                  <a:srgbClr val="526575"/>
                </a:solidFill>
                <a:latin typeface="Arial"/>
                <a:ea typeface="Arial"/>
                <a:cs typeface="Arial"/>
              </a:defRPr>
            </a:pPr>
            <a:r>
              <a:rPr sz="1575" b="0">
                <a:solidFill>
                  <a:srgbClr val="526575"/>
                </a:solidFill>
                <a:latin typeface="Arial"/>
                <a:ea typeface="Arial"/>
                <a:cs typeface="Arial"/>
              </a:rPr>
              <a:t>Scope: one system process and its external entities. Internal processes and data stores are omitted.</a:t>
            </a:r>
          </a:p>
        </p:txBody>
      </p:sp>
    </p:spTree>
    <p:extLst>
      <p:ext uri="{BB962C8B-B14F-4D97-AF65-F5344CB8AC3E}">
        <p14:creationId xmlns:p14="http://schemas.microsoft.com/office/powerpoint/2010/main" val="917160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625" y="189726"/>
            <a:ext cx="14287500" cy="553998"/>
          </a:xfrm>
          <a:prstGeom prst="rect">
            <a:avLst/>
          </a:prstGeom>
          <a:solidFill>
            <a:srgbClr val="FFFFFF"/>
          </a:solidFill>
        </p:spPr>
        <p:txBody>
          <a:bodyPr wrap="square" lIns="25400" tIns="0" rIns="25400" bIns="0" anchor="ctr">
            <a:spAutoFit/>
          </a:bodyPr>
          <a:lstStyle/>
          <a:p>
            <a:pPr algn="l">
              <a:spcBef>
                <a:spcPts val="0"/>
              </a:spcBef>
              <a:spcAft>
                <a:spcPts val="0"/>
              </a:spcAft>
              <a:defRPr sz="3150" b="1">
                <a:solidFill>
                  <a:srgbClr val="262626"/>
                </a:solidFill>
                <a:latin typeface="Arial"/>
              </a:defRPr>
            </a:pPr>
            <a:r>
              <a:t>CardCollector System</a:t>
            </a:r>
            <a:endParaRPr lang="en-US"/>
          </a:p>
        </p:txBody>
      </p:sp>
      <p:sp>
        <p:nvSpPr>
          <p:cNvPr id="3" name="TextBox 2"/>
          <p:cNvSpPr txBox="1"/>
          <p:nvPr/>
        </p:nvSpPr>
        <p:spPr>
          <a:xfrm>
            <a:off x="447675" y="752818"/>
            <a:ext cx="5048250" cy="323165"/>
          </a:xfrm>
          <a:prstGeom prst="rect">
            <a:avLst/>
          </a:prstGeom>
          <a:solidFill>
            <a:srgbClr val="FFFFFF"/>
          </a:solidFill>
        </p:spPr>
        <p:txBody>
          <a:bodyPr wrap="square" lIns="25400" tIns="0" rIns="25400" bIns="0" anchor="ctr">
            <a:spAutoFit/>
          </a:bodyPr>
          <a:lstStyle/>
          <a:p>
            <a:pPr algn="l">
              <a:spcBef>
                <a:spcPts val="0"/>
              </a:spcBef>
              <a:spcAft>
                <a:spcPts val="0"/>
              </a:spcAft>
              <a:defRPr sz="1725" b="0">
                <a:solidFill>
                  <a:srgbClr val="262626"/>
                </a:solidFill>
                <a:latin typeface="Arial"/>
              </a:defRPr>
            </a:pPr>
            <a:r>
              <a:t>Level 0 data flow diagram</a:t>
            </a:r>
            <a:endParaRPr lang="en-US"/>
          </a:p>
        </p:txBody>
      </p:sp>
      <p:sp>
        <p:nvSpPr>
          <p:cNvPr id="4" name="Rounded Rectangle 3"/>
          <p:cNvSpPr/>
          <p:nvPr/>
        </p:nvSpPr>
        <p:spPr>
          <a:xfrm>
            <a:off x="2571750" y="1809750"/>
            <a:ext cx="1524000" cy="904875"/>
          </a:xfrm>
          <a:prstGeom prst="roundRect">
            <a:avLst>
              <a:gd name="adj" fmla="val 18000"/>
            </a:avLst>
          </a:prstGeom>
          <a:solidFill>
            <a:srgbClr val="FFFFFF"/>
          </a:solidFill>
          <a:ln w="1397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2571750" y="2047875"/>
            <a:ext cx="152400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619375" y="1835471"/>
            <a:ext cx="1428750" cy="196208"/>
          </a:xfrm>
          <a:prstGeom prst="rect">
            <a:avLst/>
          </a:prstGeom>
          <a:solidFill>
            <a:srgbClr val="FFFFFF"/>
          </a:solidFill>
        </p:spPr>
        <p:txBody>
          <a:bodyPr wrap="square" lIns="25400" tIns="0" rIns="25400" bIns="0" anchor="ctr">
            <a:spAutoFit/>
          </a:bodyPr>
          <a:lstStyle/>
          <a:p>
            <a:pPr algn="ctr">
              <a:spcBef>
                <a:spcPts val="0"/>
              </a:spcBef>
              <a:spcAft>
                <a:spcPts val="0"/>
              </a:spcAft>
              <a:defRPr sz="1275" b="1">
                <a:solidFill>
                  <a:srgbClr val="262626"/>
                </a:solidFill>
                <a:latin typeface="Arial"/>
              </a:defRPr>
            </a:pPr>
            <a:r>
              <a:rPr lang="en-US"/>
              <a:t>1.0</a:t>
            </a:r>
          </a:p>
        </p:txBody>
      </p:sp>
      <p:sp>
        <p:nvSpPr>
          <p:cNvPr id="7" name="TextBox 6"/>
          <p:cNvSpPr txBox="1">
            <a:spLocks/>
          </p:cNvSpPr>
          <p:nvPr/>
        </p:nvSpPr>
        <p:spPr>
          <a:xfrm>
            <a:off x="2628900" y="2095500"/>
            <a:ext cx="1409700" cy="571500"/>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rPr lang="en-US"/>
              <a:t>Manage Customer</a:t>
            </a:r>
          </a:p>
          <a:p>
            <a:pPr algn="ctr">
              <a:spcBef>
                <a:spcPts val="0"/>
              </a:spcBef>
              <a:spcAft>
                <a:spcPts val="0"/>
              </a:spcAft>
              <a:defRPr sz="1350" b="0">
                <a:solidFill>
                  <a:srgbClr val="262626"/>
                </a:solidFill>
                <a:latin typeface="Arial"/>
              </a:defRPr>
            </a:pPr>
            <a:r>
              <a:rPr lang="en-US"/>
              <a:t>Account</a:t>
            </a:r>
          </a:p>
        </p:txBody>
      </p:sp>
      <p:sp>
        <p:nvSpPr>
          <p:cNvPr id="8" name="Rounded Rectangle 7"/>
          <p:cNvSpPr>
            <a:spLocks/>
          </p:cNvSpPr>
          <p:nvPr/>
        </p:nvSpPr>
        <p:spPr>
          <a:xfrm>
            <a:off x="6715125" y="1809750"/>
            <a:ext cx="1524000" cy="904875"/>
          </a:xfrm>
          <a:prstGeom prst="roundRect">
            <a:avLst>
              <a:gd name="adj" fmla="val 18000"/>
            </a:avLst>
          </a:prstGeom>
          <a:solidFill>
            <a:srgbClr val="FFFFFF"/>
          </a:solidFill>
          <a:ln w="1397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Connector 8"/>
          <p:cNvCxnSpPr/>
          <p:nvPr/>
        </p:nvCxnSpPr>
        <p:spPr>
          <a:xfrm>
            <a:off x="6715125" y="2047875"/>
            <a:ext cx="152400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2750" y="1835471"/>
            <a:ext cx="1428750" cy="196208"/>
          </a:xfrm>
          <a:prstGeom prst="rect">
            <a:avLst/>
          </a:prstGeom>
          <a:solidFill>
            <a:srgbClr val="FFFFFF"/>
          </a:solidFill>
        </p:spPr>
        <p:txBody>
          <a:bodyPr wrap="square" lIns="25400" tIns="0" rIns="25400" bIns="0" anchor="ctr">
            <a:spAutoFit/>
          </a:bodyPr>
          <a:lstStyle/>
          <a:p>
            <a:pPr algn="ctr">
              <a:spcBef>
                <a:spcPts val="0"/>
              </a:spcBef>
              <a:spcAft>
                <a:spcPts val="0"/>
              </a:spcAft>
              <a:defRPr sz="1275" b="1">
                <a:solidFill>
                  <a:srgbClr val="262626"/>
                </a:solidFill>
                <a:latin typeface="Arial"/>
              </a:defRPr>
            </a:pPr>
            <a:r>
              <a:rPr lang="en-US"/>
              <a:t>3.0</a:t>
            </a:r>
          </a:p>
        </p:txBody>
      </p:sp>
      <p:sp>
        <p:nvSpPr>
          <p:cNvPr id="11" name="TextBox 10"/>
          <p:cNvSpPr txBox="1"/>
          <p:nvPr/>
        </p:nvSpPr>
        <p:spPr>
          <a:xfrm>
            <a:off x="6772275" y="2095500"/>
            <a:ext cx="1409700" cy="571500"/>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t>Search and</a:t>
            </a:r>
          </a:p>
          <a:p>
            <a:pPr algn="ctr">
              <a:spcBef>
                <a:spcPts val="0"/>
              </a:spcBef>
              <a:spcAft>
                <a:spcPts val="0"/>
              </a:spcAft>
              <a:defRPr sz="1350" b="0">
                <a:solidFill>
                  <a:srgbClr val="262626"/>
                </a:solidFill>
                <a:latin typeface="Arial"/>
              </a:defRPr>
            </a:pPr>
            <a:r>
              <a:t>Browse Cards</a:t>
            </a:r>
          </a:p>
        </p:txBody>
      </p:sp>
      <p:sp>
        <p:nvSpPr>
          <p:cNvPr id="12" name="Rounded Rectangle 11"/>
          <p:cNvSpPr>
            <a:spLocks/>
          </p:cNvSpPr>
          <p:nvPr/>
        </p:nvSpPr>
        <p:spPr>
          <a:xfrm>
            <a:off x="10858500" y="1809750"/>
            <a:ext cx="1524000" cy="904875"/>
          </a:xfrm>
          <a:prstGeom prst="roundRect">
            <a:avLst>
              <a:gd name="adj" fmla="val 18000"/>
            </a:avLst>
          </a:prstGeom>
          <a:solidFill>
            <a:srgbClr val="FFFFFF"/>
          </a:solidFill>
          <a:ln w="1397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Connector 12"/>
          <p:cNvCxnSpPr/>
          <p:nvPr/>
        </p:nvCxnSpPr>
        <p:spPr>
          <a:xfrm>
            <a:off x="10858500" y="2047875"/>
            <a:ext cx="152400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906125" y="1828800"/>
            <a:ext cx="1428750" cy="209550"/>
          </a:xfrm>
          <a:prstGeom prst="rect">
            <a:avLst/>
          </a:prstGeom>
          <a:solidFill>
            <a:srgbClr val="FFFFFF"/>
          </a:solidFill>
        </p:spPr>
        <p:txBody>
          <a:bodyPr wrap="square" lIns="25400" tIns="0" rIns="25400" bIns="0" anchor="ctr">
            <a:spAutoFit/>
          </a:bodyPr>
          <a:lstStyle/>
          <a:p>
            <a:pPr algn="ctr">
              <a:spcBef>
                <a:spcPts val="0"/>
              </a:spcBef>
              <a:spcAft>
                <a:spcPts val="0"/>
              </a:spcAft>
              <a:defRPr sz="1275" b="1">
                <a:solidFill>
                  <a:srgbClr val="262626"/>
                </a:solidFill>
                <a:latin typeface="Arial"/>
              </a:defRPr>
            </a:pPr>
            <a:r>
              <a:t>4.0</a:t>
            </a:r>
          </a:p>
        </p:txBody>
      </p:sp>
      <p:sp>
        <p:nvSpPr>
          <p:cNvPr id="15" name="TextBox 14"/>
          <p:cNvSpPr txBox="1"/>
          <p:nvPr/>
        </p:nvSpPr>
        <p:spPr>
          <a:xfrm>
            <a:off x="10915650" y="2095500"/>
            <a:ext cx="1409700" cy="571500"/>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t>Manage</a:t>
            </a:r>
          </a:p>
          <a:p>
            <a:pPr algn="ctr">
              <a:spcBef>
                <a:spcPts val="0"/>
              </a:spcBef>
              <a:spcAft>
                <a:spcPts val="0"/>
              </a:spcAft>
              <a:defRPr sz="1350" b="0">
                <a:solidFill>
                  <a:srgbClr val="262626"/>
                </a:solidFill>
                <a:latin typeface="Arial"/>
              </a:defRPr>
            </a:pPr>
            <a:r>
              <a:t>Shopping Cart</a:t>
            </a:r>
          </a:p>
        </p:txBody>
      </p:sp>
      <p:sp>
        <p:nvSpPr>
          <p:cNvPr id="16" name="Rounded Rectangle 15"/>
          <p:cNvSpPr/>
          <p:nvPr/>
        </p:nvSpPr>
        <p:spPr>
          <a:xfrm>
            <a:off x="2571750" y="4095750"/>
            <a:ext cx="1524000" cy="904875"/>
          </a:xfrm>
          <a:prstGeom prst="roundRect">
            <a:avLst>
              <a:gd name="adj" fmla="val 18000"/>
            </a:avLst>
          </a:prstGeom>
          <a:solidFill>
            <a:srgbClr val="FFFFFF"/>
          </a:solidFill>
          <a:ln w="1397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2571750" y="4333875"/>
            <a:ext cx="152400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619375" y="4121471"/>
            <a:ext cx="1428750" cy="196208"/>
          </a:xfrm>
          <a:prstGeom prst="rect">
            <a:avLst/>
          </a:prstGeom>
          <a:solidFill>
            <a:srgbClr val="FFFFFF"/>
          </a:solidFill>
        </p:spPr>
        <p:txBody>
          <a:bodyPr wrap="square" lIns="25400" tIns="0" rIns="25400" bIns="0" anchor="ctr">
            <a:spAutoFit/>
          </a:bodyPr>
          <a:lstStyle/>
          <a:p>
            <a:pPr algn="ctr">
              <a:spcBef>
                <a:spcPts val="0"/>
              </a:spcBef>
              <a:spcAft>
                <a:spcPts val="0"/>
              </a:spcAft>
              <a:defRPr sz="1275" b="1">
                <a:solidFill>
                  <a:srgbClr val="262626"/>
                </a:solidFill>
                <a:latin typeface="Arial"/>
              </a:defRPr>
            </a:pPr>
            <a:r>
              <a:rPr lang="en-US"/>
              <a:t>2.0</a:t>
            </a:r>
          </a:p>
        </p:txBody>
      </p:sp>
      <p:sp>
        <p:nvSpPr>
          <p:cNvPr id="19" name="TextBox 18"/>
          <p:cNvSpPr txBox="1"/>
          <p:nvPr/>
        </p:nvSpPr>
        <p:spPr>
          <a:xfrm>
            <a:off x="2628900" y="4381500"/>
            <a:ext cx="1409700" cy="571500"/>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t>Maintain</a:t>
            </a:r>
          </a:p>
          <a:p>
            <a:pPr algn="ctr">
              <a:spcBef>
                <a:spcPts val="0"/>
              </a:spcBef>
              <a:spcAft>
                <a:spcPts val="0"/>
              </a:spcAft>
              <a:defRPr sz="1350" b="0">
                <a:solidFill>
                  <a:srgbClr val="262626"/>
                </a:solidFill>
                <a:latin typeface="Arial"/>
              </a:defRPr>
            </a:pPr>
            <a:r>
              <a:t>Card Catalog</a:t>
            </a:r>
          </a:p>
        </p:txBody>
      </p:sp>
      <p:sp>
        <p:nvSpPr>
          <p:cNvPr id="20" name="Rounded Rectangle 19"/>
          <p:cNvSpPr/>
          <p:nvPr/>
        </p:nvSpPr>
        <p:spPr>
          <a:xfrm>
            <a:off x="6715125" y="4095750"/>
            <a:ext cx="1524000" cy="904875"/>
          </a:xfrm>
          <a:prstGeom prst="roundRect">
            <a:avLst>
              <a:gd name="adj" fmla="val 18000"/>
            </a:avLst>
          </a:prstGeom>
          <a:solidFill>
            <a:srgbClr val="FFFFFF"/>
          </a:solidFill>
          <a:ln w="1397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6715125" y="4333875"/>
            <a:ext cx="152400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762750" y="4121471"/>
            <a:ext cx="1428750" cy="196208"/>
          </a:xfrm>
          <a:prstGeom prst="rect">
            <a:avLst/>
          </a:prstGeom>
          <a:solidFill>
            <a:srgbClr val="FFFFFF"/>
          </a:solidFill>
        </p:spPr>
        <p:txBody>
          <a:bodyPr wrap="square" lIns="25400" tIns="0" rIns="25400" bIns="0" anchor="ctr">
            <a:spAutoFit/>
          </a:bodyPr>
          <a:lstStyle/>
          <a:p>
            <a:pPr algn="ctr">
              <a:spcBef>
                <a:spcPts val="0"/>
              </a:spcBef>
              <a:spcAft>
                <a:spcPts val="0"/>
              </a:spcAft>
              <a:defRPr sz="1275" b="1">
                <a:solidFill>
                  <a:srgbClr val="262626"/>
                </a:solidFill>
                <a:latin typeface="Arial"/>
              </a:defRPr>
            </a:pPr>
            <a:r>
              <a:rPr lang="en-US"/>
              <a:t>6.0</a:t>
            </a:r>
          </a:p>
        </p:txBody>
      </p:sp>
      <p:sp>
        <p:nvSpPr>
          <p:cNvPr id="23" name="TextBox 22"/>
          <p:cNvSpPr txBox="1">
            <a:spLocks/>
          </p:cNvSpPr>
          <p:nvPr/>
        </p:nvSpPr>
        <p:spPr>
          <a:xfrm>
            <a:off x="6772275" y="4381500"/>
            <a:ext cx="1409700" cy="571500"/>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rPr lang="en-US"/>
              <a:t>Manage</a:t>
            </a:r>
          </a:p>
          <a:p>
            <a:pPr algn="ctr">
              <a:spcBef>
                <a:spcPts val="0"/>
              </a:spcBef>
              <a:spcAft>
                <a:spcPts val="0"/>
              </a:spcAft>
              <a:defRPr sz="1350" b="0">
                <a:solidFill>
                  <a:srgbClr val="262626"/>
                </a:solidFill>
                <a:latin typeface="Arial"/>
              </a:defRPr>
            </a:pPr>
            <a:r>
              <a:rPr lang="en-US"/>
              <a:t>Inventory</a:t>
            </a:r>
          </a:p>
        </p:txBody>
      </p:sp>
      <p:sp>
        <p:nvSpPr>
          <p:cNvPr id="24" name="Rounded Rectangle 23"/>
          <p:cNvSpPr>
            <a:spLocks/>
          </p:cNvSpPr>
          <p:nvPr/>
        </p:nvSpPr>
        <p:spPr>
          <a:xfrm>
            <a:off x="10858500" y="4095750"/>
            <a:ext cx="1524000" cy="904875"/>
          </a:xfrm>
          <a:prstGeom prst="roundRect">
            <a:avLst>
              <a:gd name="adj" fmla="val 18000"/>
            </a:avLst>
          </a:prstGeom>
          <a:solidFill>
            <a:srgbClr val="FFFFFF"/>
          </a:solidFill>
          <a:ln w="1397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 name="Connector 24"/>
          <p:cNvCxnSpPr/>
          <p:nvPr/>
        </p:nvCxnSpPr>
        <p:spPr>
          <a:xfrm>
            <a:off x="10858500" y="4333875"/>
            <a:ext cx="152400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906125" y="4121471"/>
            <a:ext cx="1428750" cy="196208"/>
          </a:xfrm>
          <a:prstGeom prst="rect">
            <a:avLst/>
          </a:prstGeom>
          <a:solidFill>
            <a:srgbClr val="FFFFFF"/>
          </a:solidFill>
        </p:spPr>
        <p:txBody>
          <a:bodyPr wrap="square" lIns="25400" tIns="0" rIns="25400" bIns="0" anchor="ctr">
            <a:spAutoFit/>
          </a:bodyPr>
          <a:lstStyle/>
          <a:p>
            <a:pPr algn="ctr">
              <a:spcBef>
                <a:spcPts val="0"/>
              </a:spcBef>
              <a:spcAft>
                <a:spcPts val="0"/>
              </a:spcAft>
              <a:defRPr sz="1275" b="1">
                <a:solidFill>
                  <a:srgbClr val="262626"/>
                </a:solidFill>
                <a:latin typeface="Arial"/>
              </a:defRPr>
            </a:pPr>
            <a:r>
              <a:rPr lang="en-US"/>
              <a:t>5.0</a:t>
            </a:r>
          </a:p>
        </p:txBody>
      </p:sp>
      <p:sp>
        <p:nvSpPr>
          <p:cNvPr id="27" name="TextBox 26"/>
          <p:cNvSpPr txBox="1"/>
          <p:nvPr/>
        </p:nvSpPr>
        <p:spPr>
          <a:xfrm>
            <a:off x="10915650" y="4381500"/>
            <a:ext cx="1409700" cy="571500"/>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t>Process</a:t>
            </a:r>
          </a:p>
          <a:p>
            <a:pPr algn="ctr">
              <a:spcBef>
                <a:spcPts val="0"/>
              </a:spcBef>
              <a:spcAft>
                <a:spcPts val="0"/>
              </a:spcAft>
              <a:defRPr sz="1350" b="0">
                <a:solidFill>
                  <a:srgbClr val="262626"/>
                </a:solidFill>
                <a:latin typeface="Arial"/>
              </a:defRPr>
            </a:pPr>
            <a:r>
              <a:t>Checkout</a:t>
            </a:r>
          </a:p>
        </p:txBody>
      </p:sp>
      <p:sp>
        <p:nvSpPr>
          <p:cNvPr id="28" name="Rounded Rectangle 27"/>
          <p:cNvSpPr>
            <a:spLocks/>
          </p:cNvSpPr>
          <p:nvPr/>
        </p:nvSpPr>
        <p:spPr>
          <a:xfrm>
            <a:off x="2095500" y="6572250"/>
            <a:ext cx="1524000" cy="904875"/>
          </a:xfrm>
          <a:prstGeom prst="roundRect">
            <a:avLst>
              <a:gd name="adj" fmla="val 18000"/>
            </a:avLst>
          </a:prstGeom>
          <a:solidFill>
            <a:srgbClr val="FFFFFF"/>
          </a:solidFill>
          <a:ln w="1397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9" name="Connector 28"/>
          <p:cNvCxnSpPr/>
          <p:nvPr/>
        </p:nvCxnSpPr>
        <p:spPr>
          <a:xfrm>
            <a:off x="2095500" y="6810375"/>
            <a:ext cx="152400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143125" y="6591300"/>
            <a:ext cx="1428750" cy="209550"/>
          </a:xfrm>
          <a:prstGeom prst="rect">
            <a:avLst/>
          </a:prstGeom>
          <a:solidFill>
            <a:srgbClr val="FFFFFF"/>
          </a:solidFill>
        </p:spPr>
        <p:txBody>
          <a:bodyPr wrap="square" lIns="25400" tIns="0" rIns="25400" bIns="0" anchor="ctr">
            <a:spAutoFit/>
          </a:bodyPr>
          <a:lstStyle/>
          <a:p>
            <a:pPr algn="ctr">
              <a:spcBef>
                <a:spcPts val="0"/>
              </a:spcBef>
              <a:spcAft>
                <a:spcPts val="0"/>
              </a:spcAft>
              <a:defRPr sz="1275" b="1">
                <a:solidFill>
                  <a:srgbClr val="262626"/>
                </a:solidFill>
                <a:latin typeface="Arial"/>
              </a:defRPr>
            </a:pPr>
            <a:r>
              <a:t>9.0</a:t>
            </a:r>
          </a:p>
        </p:txBody>
      </p:sp>
      <p:sp>
        <p:nvSpPr>
          <p:cNvPr id="31" name="TextBox 30"/>
          <p:cNvSpPr txBox="1"/>
          <p:nvPr/>
        </p:nvSpPr>
        <p:spPr>
          <a:xfrm>
            <a:off x="2152650" y="6858000"/>
            <a:ext cx="1409700" cy="571500"/>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t>Generate</a:t>
            </a:r>
          </a:p>
          <a:p>
            <a:pPr algn="ctr">
              <a:spcBef>
                <a:spcPts val="0"/>
              </a:spcBef>
              <a:spcAft>
                <a:spcPts val="0"/>
              </a:spcAft>
              <a:defRPr sz="1350" b="0">
                <a:solidFill>
                  <a:srgbClr val="262626"/>
                </a:solidFill>
                <a:latin typeface="Arial"/>
              </a:defRPr>
            </a:pPr>
            <a:r>
              <a:t>Reports</a:t>
            </a:r>
          </a:p>
        </p:txBody>
      </p:sp>
      <p:sp>
        <p:nvSpPr>
          <p:cNvPr id="32" name="Rounded Rectangle 31"/>
          <p:cNvSpPr/>
          <p:nvPr/>
        </p:nvSpPr>
        <p:spPr>
          <a:xfrm>
            <a:off x="6715125" y="6572250"/>
            <a:ext cx="1524000" cy="904875"/>
          </a:xfrm>
          <a:prstGeom prst="roundRect">
            <a:avLst>
              <a:gd name="adj" fmla="val 18000"/>
            </a:avLst>
          </a:prstGeom>
          <a:solidFill>
            <a:srgbClr val="FFFFFF"/>
          </a:solidFill>
          <a:ln w="1397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6715125" y="6810375"/>
            <a:ext cx="152400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762750" y="6597971"/>
            <a:ext cx="1428750" cy="196208"/>
          </a:xfrm>
          <a:prstGeom prst="rect">
            <a:avLst/>
          </a:prstGeom>
          <a:solidFill>
            <a:srgbClr val="FFFFFF"/>
          </a:solidFill>
        </p:spPr>
        <p:txBody>
          <a:bodyPr wrap="square" lIns="25400" tIns="0" rIns="25400" bIns="0" anchor="ctr">
            <a:spAutoFit/>
          </a:bodyPr>
          <a:lstStyle/>
          <a:p>
            <a:pPr algn="ctr">
              <a:spcBef>
                <a:spcPts val="0"/>
              </a:spcBef>
              <a:spcAft>
                <a:spcPts val="0"/>
              </a:spcAft>
              <a:defRPr sz="1275" b="1">
                <a:solidFill>
                  <a:srgbClr val="262626"/>
                </a:solidFill>
                <a:latin typeface="Arial"/>
              </a:defRPr>
            </a:pPr>
            <a:r>
              <a:rPr lang="en-US"/>
              <a:t>8.0</a:t>
            </a:r>
          </a:p>
        </p:txBody>
      </p:sp>
      <p:sp>
        <p:nvSpPr>
          <p:cNvPr id="35" name="TextBox 34"/>
          <p:cNvSpPr txBox="1"/>
          <p:nvPr/>
        </p:nvSpPr>
        <p:spPr>
          <a:xfrm>
            <a:off x="6772275" y="6858000"/>
            <a:ext cx="1409700" cy="571500"/>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t>Manage</a:t>
            </a:r>
          </a:p>
          <a:p>
            <a:pPr algn="ctr">
              <a:spcBef>
                <a:spcPts val="0"/>
              </a:spcBef>
              <a:spcAft>
                <a:spcPts val="0"/>
              </a:spcAft>
              <a:defRPr sz="1350" b="0">
                <a:solidFill>
                  <a:srgbClr val="262626"/>
                </a:solidFill>
                <a:latin typeface="Arial"/>
              </a:defRPr>
            </a:pPr>
            <a:r>
              <a:t>Returns</a:t>
            </a:r>
          </a:p>
        </p:txBody>
      </p:sp>
      <p:sp>
        <p:nvSpPr>
          <p:cNvPr id="36" name="Rounded Rectangle 35"/>
          <p:cNvSpPr/>
          <p:nvPr/>
        </p:nvSpPr>
        <p:spPr>
          <a:xfrm>
            <a:off x="10858500" y="6572250"/>
            <a:ext cx="1524000" cy="904875"/>
          </a:xfrm>
          <a:prstGeom prst="roundRect">
            <a:avLst>
              <a:gd name="adj" fmla="val 18000"/>
            </a:avLst>
          </a:prstGeom>
          <a:solidFill>
            <a:srgbClr val="FFFFFF"/>
          </a:solidFill>
          <a:ln w="1397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7" name="Connector 36"/>
          <p:cNvCxnSpPr/>
          <p:nvPr/>
        </p:nvCxnSpPr>
        <p:spPr>
          <a:xfrm>
            <a:off x="10858500" y="6810375"/>
            <a:ext cx="152400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906125" y="6591300"/>
            <a:ext cx="1428750" cy="209550"/>
          </a:xfrm>
          <a:prstGeom prst="rect">
            <a:avLst/>
          </a:prstGeom>
          <a:solidFill>
            <a:srgbClr val="FFFFFF"/>
          </a:solidFill>
        </p:spPr>
        <p:txBody>
          <a:bodyPr wrap="square" lIns="25400" tIns="0" rIns="25400" bIns="0" anchor="ctr">
            <a:spAutoFit/>
          </a:bodyPr>
          <a:lstStyle/>
          <a:p>
            <a:pPr algn="ctr">
              <a:spcBef>
                <a:spcPts val="0"/>
              </a:spcBef>
              <a:spcAft>
                <a:spcPts val="0"/>
              </a:spcAft>
              <a:defRPr sz="1275" b="1">
                <a:solidFill>
                  <a:srgbClr val="262626"/>
                </a:solidFill>
                <a:latin typeface="Arial"/>
              </a:defRPr>
            </a:pPr>
            <a:r>
              <a:t>7.0</a:t>
            </a:r>
          </a:p>
        </p:txBody>
      </p:sp>
      <p:sp>
        <p:nvSpPr>
          <p:cNvPr id="39" name="TextBox 38"/>
          <p:cNvSpPr txBox="1"/>
          <p:nvPr/>
        </p:nvSpPr>
        <p:spPr>
          <a:xfrm>
            <a:off x="10915650" y="6936001"/>
            <a:ext cx="1409700" cy="415498"/>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rPr lang="en-US"/>
              <a:t>Fulfill</a:t>
            </a:r>
          </a:p>
          <a:p>
            <a:pPr algn="ctr">
              <a:spcBef>
                <a:spcPts val="0"/>
              </a:spcBef>
              <a:spcAft>
                <a:spcPts val="0"/>
              </a:spcAft>
              <a:defRPr sz="1350" b="0">
                <a:solidFill>
                  <a:srgbClr val="262626"/>
                </a:solidFill>
                <a:latin typeface="Arial"/>
              </a:defRPr>
            </a:pPr>
            <a:r>
              <a:rPr lang="en-US"/>
              <a:t>Orders</a:t>
            </a:r>
          </a:p>
        </p:txBody>
      </p:sp>
      <p:sp>
        <p:nvSpPr>
          <p:cNvPr id="40" name="Rectangle 39"/>
          <p:cNvSpPr>
            <a:spLocks/>
          </p:cNvSpPr>
          <p:nvPr/>
        </p:nvSpPr>
        <p:spPr>
          <a:xfrm>
            <a:off x="381000" y="1952625"/>
            <a:ext cx="1190625" cy="619125"/>
          </a:xfrm>
          <a:prstGeom prst="rect">
            <a:avLst/>
          </a:prstGeom>
          <a:solidFill>
            <a:srgbClr val="FFFFFF"/>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TextBox 40"/>
          <p:cNvSpPr txBox="1"/>
          <p:nvPr/>
        </p:nvSpPr>
        <p:spPr>
          <a:xfrm>
            <a:off x="409575" y="1990725"/>
            <a:ext cx="1133475" cy="542925"/>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t>Customers</a:t>
            </a:r>
          </a:p>
        </p:txBody>
      </p:sp>
      <p:sp>
        <p:nvSpPr>
          <p:cNvPr id="42" name="Rectangle 41"/>
          <p:cNvSpPr/>
          <p:nvPr/>
        </p:nvSpPr>
        <p:spPr>
          <a:xfrm>
            <a:off x="6810375" y="1095375"/>
            <a:ext cx="1333500" cy="428625"/>
          </a:xfrm>
          <a:prstGeom prst="rect">
            <a:avLst/>
          </a:prstGeom>
          <a:solidFill>
            <a:srgbClr val="FFFFFF"/>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838950" y="1205813"/>
            <a:ext cx="1276350" cy="207749"/>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rPr lang="en-US"/>
              <a:t>Customers</a:t>
            </a:r>
          </a:p>
        </p:txBody>
      </p:sp>
      <p:sp>
        <p:nvSpPr>
          <p:cNvPr id="44" name="Rectangle 43"/>
          <p:cNvSpPr/>
          <p:nvPr/>
        </p:nvSpPr>
        <p:spPr>
          <a:xfrm>
            <a:off x="13335000" y="1952625"/>
            <a:ext cx="1190625" cy="619125"/>
          </a:xfrm>
          <a:prstGeom prst="rect">
            <a:avLst/>
          </a:prstGeom>
          <a:solidFill>
            <a:srgbClr val="FFFFFF"/>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3363575" y="2169854"/>
            <a:ext cx="1133475" cy="184666"/>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t>Customers</a:t>
            </a:r>
            <a:endParaRPr lang="en-US"/>
          </a:p>
        </p:txBody>
      </p:sp>
      <p:sp>
        <p:nvSpPr>
          <p:cNvPr id="46" name="Rectangle 45"/>
          <p:cNvSpPr/>
          <p:nvPr/>
        </p:nvSpPr>
        <p:spPr>
          <a:xfrm>
            <a:off x="381000" y="4238625"/>
            <a:ext cx="1333500" cy="619125"/>
          </a:xfrm>
          <a:prstGeom prst="rect">
            <a:avLst/>
          </a:prstGeom>
          <a:solidFill>
            <a:srgbClr val="FFFFFF"/>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09575" y="4444313"/>
            <a:ext cx="1276350" cy="207749"/>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rPr lang="en-US"/>
              <a:t>Administrators</a:t>
            </a:r>
          </a:p>
        </p:txBody>
      </p:sp>
      <p:sp>
        <p:nvSpPr>
          <p:cNvPr id="48" name="Rectangle 47"/>
          <p:cNvSpPr/>
          <p:nvPr/>
        </p:nvSpPr>
        <p:spPr>
          <a:xfrm>
            <a:off x="13335000" y="4238625"/>
            <a:ext cx="1333500" cy="619125"/>
          </a:xfrm>
          <a:prstGeom prst="rect">
            <a:avLst/>
          </a:prstGeom>
          <a:solidFill>
            <a:srgbClr val="FFFFFF"/>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3363575" y="4340438"/>
            <a:ext cx="1276350" cy="415498"/>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rPr lang="en-US"/>
              <a:t>Payment</a:t>
            </a:r>
          </a:p>
          <a:p>
            <a:pPr algn="ctr">
              <a:spcBef>
                <a:spcPts val="0"/>
              </a:spcBef>
              <a:spcAft>
                <a:spcPts val="0"/>
              </a:spcAft>
              <a:defRPr sz="1350" b="0">
                <a:solidFill>
                  <a:srgbClr val="262626"/>
                </a:solidFill>
                <a:latin typeface="Arial"/>
              </a:defRPr>
            </a:pPr>
            <a:r>
              <a:rPr lang="en-US"/>
              <a:t>service</a:t>
            </a:r>
          </a:p>
        </p:txBody>
      </p:sp>
      <p:sp>
        <p:nvSpPr>
          <p:cNvPr id="50" name="Rectangle 49"/>
          <p:cNvSpPr/>
          <p:nvPr/>
        </p:nvSpPr>
        <p:spPr>
          <a:xfrm>
            <a:off x="381000" y="6715125"/>
            <a:ext cx="1333500" cy="619125"/>
          </a:xfrm>
          <a:prstGeom prst="rect">
            <a:avLst/>
          </a:prstGeom>
          <a:solidFill>
            <a:srgbClr val="FFFFFF"/>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09575" y="6920813"/>
            <a:ext cx="1276350" cy="207749"/>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rPr lang="en-US"/>
              <a:t>Administrators</a:t>
            </a:r>
          </a:p>
        </p:txBody>
      </p:sp>
      <p:sp>
        <p:nvSpPr>
          <p:cNvPr id="52" name="Rectangle 51"/>
          <p:cNvSpPr/>
          <p:nvPr/>
        </p:nvSpPr>
        <p:spPr>
          <a:xfrm>
            <a:off x="6715125" y="7953375"/>
            <a:ext cx="1524000" cy="400050"/>
          </a:xfrm>
          <a:prstGeom prst="rect">
            <a:avLst/>
          </a:prstGeom>
          <a:solidFill>
            <a:srgbClr val="FFFFFF"/>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743700" y="7991475"/>
            <a:ext cx="1466850" cy="323850"/>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t>Customers</a:t>
            </a:r>
          </a:p>
        </p:txBody>
      </p:sp>
      <p:sp>
        <p:nvSpPr>
          <p:cNvPr id="54" name="Rectangle 53"/>
          <p:cNvSpPr/>
          <p:nvPr/>
        </p:nvSpPr>
        <p:spPr>
          <a:xfrm>
            <a:off x="13335000" y="6715125"/>
            <a:ext cx="1333500" cy="619125"/>
          </a:xfrm>
          <a:prstGeom prst="rect">
            <a:avLst/>
          </a:prstGeom>
          <a:solidFill>
            <a:srgbClr val="FFFFFF"/>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3363575" y="6753225"/>
            <a:ext cx="1276350" cy="542925"/>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t>Shipping</a:t>
            </a:r>
          </a:p>
          <a:p>
            <a:pPr algn="ctr">
              <a:spcBef>
                <a:spcPts val="0"/>
              </a:spcBef>
              <a:spcAft>
                <a:spcPts val="0"/>
              </a:spcAft>
              <a:defRPr sz="1350" b="0">
                <a:solidFill>
                  <a:srgbClr val="262626"/>
                </a:solidFill>
                <a:latin typeface="Arial"/>
              </a:defRPr>
            </a:pPr>
            <a:r>
              <a:t>carriers</a:t>
            </a:r>
          </a:p>
        </p:txBody>
      </p:sp>
      <p:cxnSp>
        <p:nvCxnSpPr>
          <p:cNvPr id="56" name="Connector 55"/>
          <p:cNvCxnSpPr/>
          <p:nvPr/>
        </p:nvCxnSpPr>
        <p:spPr>
          <a:xfrm>
            <a:off x="2571750" y="3143250"/>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2571750" y="3429000"/>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2867025" y="3143250"/>
            <a:ext cx="0" cy="2857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2571750" y="3152775"/>
            <a:ext cx="28575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1">
                <a:solidFill>
                  <a:srgbClr val="262626"/>
                </a:solidFill>
                <a:latin typeface="Arial"/>
              </a:defRPr>
            </a:pPr>
            <a:r>
              <a:t>D1</a:t>
            </a:r>
          </a:p>
        </p:txBody>
      </p:sp>
      <p:sp>
        <p:nvSpPr>
          <p:cNvPr id="60" name="TextBox 59"/>
          <p:cNvSpPr txBox="1"/>
          <p:nvPr/>
        </p:nvSpPr>
        <p:spPr>
          <a:xfrm>
            <a:off x="2886075" y="3152775"/>
            <a:ext cx="125730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200" b="0">
                <a:solidFill>
                  <a:srgbClr val="262626"/>
                </a:solidFill>
                <a:latin typeface="Arial"/>
              </a:defRPr>
            </a:pPr>
            <a:r>
              <a:t>Customers</a:t>
            </a:r>
          </a:p>
        </p:txBody>
      </p:sp>
      <p:cxnSp>
        <p:nvCxnSpPr>
          <p:cNvPr id="61" name="Connector 60"/>
          <p:cNvCxnSpPr/>
          <p:nvPr/>
        </p:nvCxnSpPr>
        <p:spPr>
          <a:xfrm>
            <a:off x="4686300" y="2047875"/>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4686300" y="2333625"/>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4981575" y="2047875"/>
            <a:ext cx="0" cy="2857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4686300" y="2057400"/>
            <a:ext cx="28575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1">
                <a:solidFill>
                  <a:srgbClr val="262626"/>
                </a:solidFill>
                <a:latin typeface="Arial"/>
              </a:defRPr>
            </a:pPr>
            <a:r>
              <a:t>D2</a:t>
            </a:r>
          </a:p>
        </p:txBody>
      </p:sp>
      <p:sp>
        <p:nvSpPr>
          <p:cNvPr id="65" name="TextBox 64"/>
          <p:cNvSpPr txBox="1"/>
          <p:nvPr/>
        </p:nvSpPr>
        <p:spPr>
          <a:xfrm>
            <a:off x="5000625" y="2057400"/>
            <a:ext cx="125730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200" b="0">
                <a:solidFill>
                  <a:srgbClr val="262626"/>
                </a:solidFill>
                <a:latin typeface="Arial"/>
              </a:defRPr>
            </a:pPr>
            <a:r>
              <a:t>Card catalog</a:t>
            </a:r>
          </a:p>
        </p:txBody>
      </p:sp>
      <p:cxnSp>
        <p:nvCxnSpPr>
          <p:cNvPr id="66" name="Connector 65"/>
          <p:cNvCxnSpPr/>
          <p:nvPr/>
        </p:nvCxnSpPr>
        <p:spPr>
          <a:xfrm>
            <a:off x="8667750" y="2047875"/>
            <a:ext cx="152400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667750" y="2333625"/>
            <a:ext cx="152400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963025" y="2047875"/>
            <a:ext cx="0" cy="2857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69" name="TextBox 68"/>
          <p:cNvSpPr txBox="1">
            <a:spLocks/>
          </p:cNvSpPr>
          <p:nvPr/>
        </p:nvSpPr>
        <p:spPr>
          <a:xfrm>
            <a:off x="8667750" y="2057400"/>
            <a:ext cx="28575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1">
                <a:solidFill>
                  <a:srgbClr val="262626"/>
                </a:solidFill>
                <a:latin typeface="Arial"/>
              </a:defRPr>
            </a:pPr>
            <a:r>
              <a:rPr lang="en-US"/>
              <a:t>D3</a:t>
            </a:r>
          </a:p>
        </p:txBody>
      </p:sp>
      <p:sp>
        <p:nvSpPr>
          <p:cNvPr id="70" name="TextBox 69"/>
          <p:cNvSpPr txBox="1"/>
          <p:nvPr/>
        </p:nvSpPr>
        <p:spPr>
          <a:xfrm>
            <a:off x="8982075" y="2098417"/>
            <a:ext cx="1209675" cy="184666"/>
          </a:xfrm>
          <a:prstGeom prst="rect">
            <a:avLst/>
          </a:prstGeom>
          <a:solidFill>
            <a:srgbClr val="FFFFFF"/>
          </a:solidFill>
        </p:spPr>
        <p:txBody>
          <a:bodyPr wrap="square" lIns="25400" tIns="0" rIns="25400" bIns="0" anchor="ctr">
            <a:spAutoFit/>
          </a:bodyPr>
          <a:lstStyle/>
          <a:p>
            <a:pPr algn="ctr">
              <a:spcBef>
                <a:spcPts val="0"/>
              </a:spcBef>
              <a:spcAft>
                <a:spcPts val="0"/>
              </a:spcAft>
              <a:defRPr sz="1200" b="0">
                <a:solidFill>
                  <a:srgbClr val="262626"/>
                </a:solidFill>
                <a:latin typeface="Arial"/>
              </a:defRPr>
            </a:pPr>
            <a:r>
              <a:rPr lang="en-US"/>
              <a:t>Inventory</a:t>
            </a:r>
          </a:p>
        </p:txBody>
      </p:sp>
      <p:cxnSp>
        <p:nvCxnSpPr>
          <p:cNvPr id="71" name="Connector 70"/>
          <p:cNvCxnSpPr/>
          <p:nvPr/>
        </p:nvCxnSpPr>
        <p:spPr>
          <a:xfrm>
            <a:off x="10858500" y="3143250"/>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858500" y="3429000"/>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1153775" y="3143250"/>
            <a:ext cx="0" cy="2857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10858500" y="3199563"/>
            <a:ext cx="285750"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1">
                <a:solidFill>
                  <a:srgbClr val="262626"/>
                </a:solidFill>
                <a:latin typeface="Arial"/>
              </a:defRPr>
            </a:pPr>
            <a:r>
              <a:rPr lang="en-US"/>
              <a:t>D4</a:t>
            </a:r>
          </a:p>
        </p:txBody>
      </p:sp>
      <p:sp>
        <p:nvSpPr>
          <p:cNvPr id="75" name="TextBox 74"/>
          <p:cNvSpPr txBox="1"/>
          <p:nvPr/>
        </p:nvSpPr>
        <p:spPr>
          <a:xfrm>
            <a:off x="11172825" y="3152775"/>
            <a:ext cx="125730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200" b="0">
                <a:solidFill>
                  <a:srgbClr val="262626"/>
                </a:solidFill>
                <a:latin typeface="Arial"/>
              </a:defRPr>
            </a:pPr>
            <a:r>
              <a:t>Shopping carts</a:t>
            </a:r>
          </a:p>
        </p:txBody>
      </p:sp>
      <p:cxnSp>
        <p:nvCxnSpPr>
          <p:cNvPr id="76" name="Connector 75"/>
          <p:cNvCxnSpPr/>
          <p:nvPr/>
        </p:nvCxnSpPr>
        <p:spPr>
          <a:xfrm>
            <a:off x="2571750" y="5476875"/>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2571750" y="5762625"/>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2867025" y="5476875"/>
            <a:ext cx="0" cy="2857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2571750" y="5533188"/>
            <a:ext cx="285750"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1">
                <a:solidFill>
                  <a:srgbClr val="262626"/>
                </a:solidFill>
                <a:latin typeface="Arial"/>
              </a:defRPr>
            </a:pPr>
            <a:r>
              <a:rPr lang="en-US"/>
              <a:t>D9</a:t>
            </a:r>
          </a:p>
        </p:txBody>
      </p:sp>
      <p:sp>
        <p:nvSpPr>
          <p:cNvPr id="80" name="TextBox 79"/>
          <p:cNvSpPr txBox="1"/>
          <p:nvPr/>
        </p:nvSpPr>
        <p:spPr>
          <a:xfrm>
            <a:off x="2886075" y="5527417"/>
            <a:ext cx="1257300" cy="184666"/>
          </a:xfrm>
          <a:prstGeom prst="rect">
            <a:avLst/>
          </a:prstGeom>
          <a:solidFill>
            <a:srgbClr val="FFFFFF"/>
          </a:solidFill>
        </p:spPr>
        <p:txBody>
          <a:bodyPr wrap="square" lIns="25400" tIns="0" rIns="25400" bIns="0" anchor="ctr">
            <a:spAutoFit/>
          </a:bodyPr>
          <a:lstStyle/>
          <a:p>
            <a:pPr algn="ctr">
              <a:spcBef>
                <a:spcPts val="0"/>
              </a:spcBef>
              <a:spcAft>
                <a:spcPts val="0"/>
              </a:spcAft>
              <a:defRPr sz="1200" b="0">
                <a:solidFill>
                  <a:srgbClr val="262626"/>
                </a:solidFill>
                <a:latin typeface="Arial"/>
              </a:defRPr>
            </a:pPr>
            <a:r>
              <a:rPr lang="en-US"/>
              <a:t>Audit log</a:t>
            </a:r>
          </a:p>
        </p:txBody>
      </p:sp>
      <p:cxnSp>
        <p:nvCxnSpPr>
          <p:cNvPr id="81" name="Connector 80"/>
          <p:cNvCxnSpPr/>
          <p:nvPr/>
        </p:nvCxnSpPr>
        <p:spPr>
          <a:xfrm>
            <a:off x="6715125" y="5476875"/>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6715125" y="5762625"/>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010400" y="5476875"/>
            <a:ext cx="0" cy="2857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715125" y="5486400"/>
            <a:ext cx="28575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1">
                <a:solidFill>
                  <a:srgbClr val="262626"/>
                </a:solidFill>
                <a:latin typeface="Arial"/>
              </a:defRPr>
            </a:pPr>
            <a:r>
              <a:t>D3</a:t>
            </a:r>
          </a:p>
        </p:txBody>
      </p:sp>
      <p:sp>
        <p:nvSpPr>
          <p:cNvPr id="85" name="TextBox 84"/>
          <p:cNvSpPr txBox="1"/>
          <p:nvPr/>
        </p:nvSpPr>
        <p:spPr>
          <a:xfrm>
            <a:off x="7029450" y="5527417"/>
            <a:ext cx="1257300" cy="184666"/>
          </a:xfrm>
          <a:prstGeom prst="rect">
            <a:avLst/>
          </a:prstGeom>
          <a:solidFill>
            <a:srgbClr val="FFFFFF"/>
          </a:solidFill>
        </p:spPr>
        <p:txBody>
          <a:bodyPr wrap="square" lIns="25400" tIns="0" rIns="25400" bIns="0" anchor="ctr">
            <a:spAutoFit/>
          </a:bodyPr>
          <a:lstStyle/>
          <a:p>
            <a:pPr algn="ctr">
              <a:spcBef>
                <a:spcPts val="0"/>
              </a:spcBef>
              <a:spcAft>
                <a:spcPts val="0"/>
              </a:spcAft>
              <a:defRPr sz="1200" b="0">
                <a:solidFill>
                  <a:srgbClr val="262626"/>
                </a:solidFill>
                <a:latin typeface="Arial"/>
              </a:defRPr>
            </a:pPr>
            <a:r>
              <a:rPr lang="en-US"/>
              <a:t>Inventory</a:t>
            </a:r>
          </a:p>
        </p:txBody>
      </p:sp>
      <p:cxnSp>
        <p:nvCxnSpPr>
          <p:cNvPr id="86" name="Connector 85"/>
          <p:cNvCxnSpPr/>
          <p:nvPr/>
        </p:nvCxnSpPr>
        <p:spPr>
          <a:xfrm>
            <a:off x="10858500" y="5476875"/>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858500" y="5762625"/>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1153775" y="5476875"/>
            <a:ext cx="0" cy="2857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0858500" y="5486400"/>
            <a:ext cx="28575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1">
                <a:solidFill>
                  <a:srgbClr val="262626"/>
                </a:solidFill>
                <a:latin typeface="Arial"/>
              </a:defRPr>
            </a:pPr>
            <a:r>
              <a:t>D5</a:t>
            </a:r>
          </a:p>
        </p:txBody>
      </p:sp>
      <p:sp>
        <p:nvSpPr>
          <p:cNvPr id="90" name="TextBox 89"/>
          <p:cNvSpPr txBox="1"/>
          <p:nvPr/>
        </p:nvSpPr>
        <p:spPr>
          <a:xfrm>
            <a:off x="11172825" y="5527417"/>
            <a:ext cx="1257300" cy="184666"/>
          </a:xfrm>
          <a:prstGeom prst="rect">
            <a:avLst/>
          </a:prstGeom>
          <a:solidFill>
            <a:srgbClr val="FFFFFF"/>
          </a:solidFill>
        </p:spPr>
        <p:txBody>
          <a:bodyPr wrap="square" lIns="25400" tIns="0" rIns="25400" bIns="0" anchor="ctr">
            <a:spAutoFit/>
          </a:bodyPr>
          <a:lstStyle/>
          <a:p>
            <a:pPr algn="ctr">
              <a:spcBef>
                <a:spcPts val="0"/>
              </a:spcBef>
              <a:spcAft>
                <a:spcPts val="0"/>
              </a:spcAft>
              <a:defRPr sz="1200" b="0">
                <a:solidFill>
                  <a:srgbClr val="262626"/>
                </a:solidFill>
                <a:latin typeface="Arial"/>
              </a:defRPr>
            </a:pPr>
            <a:r>
              <a:rPr lang="en-US"/>
              <a:t>Orders</a:t>
            </a:r>
          </a:p>
        </p:txBody>
      </p:sp>
      <p:cxnSp>
        <p:nvCxnSpPr>
          <p:cNvPr id="91" name="Connector 90"/>
          <p:cNvCxnSpPr/>
          <p:nvPr/>
        </p:nvCxnSpPr>
        <p:spPr>
          <a:xfrm>
            <a:off x="13239750" y="5476875"/>
            <a:ext cx="147637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3239750" y="5762625"/>
            <a:ext cx="147637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535025" y="5476875"/>
            <a:ext cx="0" cy="2857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94" name="TextBox 93"/>
          <p:cNvSpPr txBox="1">
            <a:spLocks/>
          </p:cNvSpPr>
          <p:nvPr/>
        </p:nvSpPr>
        <p:spPr>
          <a:xfrm>
            <a:off x="13239750" y="5486400"/>
            <a:ext cx="28575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1">
                <a:solidFill>
                  <a:srgbClr val="262626"/>
                </a:solidFill>
                <a:latin typeface="Arial"/>
              </a:defRPr>
            </a:pPr>
            <a:r>
              <a:rPr lang="en-US"/>
              <a:t>D6</a:t>
            </a:r>
          </a:p>
        </p:txBody>
      </p:sp>
      <p:sp>
        <p:nvSpPr>
          <p:cNvPr id="95" name="TextBox 94"/>
          <p:cNvSpPr txBox="1"/>
          <p:nvPr/>
        </p:nvSpPr>
        <p:spPr>
          <a:xfrm>
            <a:off x="13554075" y="5527417"/>
            <a:ext cx="1162050" cy="184666"/>
          </a:xfrm>
          <a:prstGeom prst="rect">
            <a:avLst/>
          </a:prstGeom>
          <a:solidFill>
            <a:srgbClr val="FFFFFF"/>
          </a:solidFill>
        </p:spPr>
        <p:txBody>
          <a:bodyPr wrap="square" lIns="25400" tIns="0" rIns="25400" bIns="0" anchor="ctr">
            <a:spAutoFit/>
          </a:bodyPr>
          <a:lstStyle/>
          <a:p>
            <a:pPr algn="ctr">
              <a:spcBef>
                <a:spcPts val="0"/>
              </a:spcBef>
              <a:spcAft>
                <a:spcPts val="0"/>
              </a:spcAft>
              <a:defRPr sz="1200" b="0">
                <a:solidFill>
                  <a:srgbClr val="262626"/>
                </a:solidFill>
                <a:latin typeface="Arial"/>
              </a:defRPr>
            </a:pPr>
            <a:r>
              <a:rPr lang="en-US"/>
              <a:t>Payments</a:t>
            </a:r>
          </a:p>
        </p:txBody>
      </p:sp>
      <p:cxnSp>
        <p:nvCxnSpPr>
          <p:cNvPr id="96" name="Connector 95"/>
          <p:cNvCxnSpPr/>
          <p:nvPr/>
        </p:nvCxnSpPr>
        <p:spPr>
          <a:xfrm>
            <a:off x="6715125" y="7572375"/>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6715125" y="7858125"/>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7010400" y="7572375"/>
            <a:ext cx="0" cy="2857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715125" y="7581900"/>
            <a:ext cx="28575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1">
                <a:solidFill>
                  <a:srgbClr val="262626"/>
                </a:solidFill>
                <a:latin typeface="Arial"/>
              </a:defRPr>
            </a:pPr>
            <a:r>
              <a:t>D8</a:t>
            </a:r>
          </a:p>
        </p:txBody>
      </p:sp>
      <p:sp>
        <p:nvSpPr>
          <p:cNvPr id="100" name="TextBox 99"/>
          <p:cNvSpPr txBox="1"/>
          <p:nvPr/>
        </p:nvSpPr>
        <p:spPr>
          <a:xfrm>
            <a:off x="7029450" y="7581900"/>
            <a:ext cx="125730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200" b="0">
                <a:solidFill>
                  <a:srgbClr val="262626"/>
                </a:solidFill>
                <a:latin typeface="Arial"/>
              </a:defRPr>
            </a:pPr>
            <a:r>
              <a:t>Returns</a:t>
            </a:r>
          </a:p>
        </p:txBody>
      </p:sp>
      <p:cxnSp>
        <p:nvCxnSpPr>
          <p:cNvPr id="101" name="Connector 100"/>
          <p:cNvCxnSpPr/>
          <p:nvPr/>
        </p:nvCxnSpPr>
        <p:spPr>
          <a:xfrm>
            <a:off x="10858500" y="7858125"/>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10858500" y="8143875"/>
            <a:ext cx="1571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1153775" y="7858125"/>
            <a:ext cx="0" cy="2857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858500" y="7867650"/>
            <a:ext cx="28575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1">
                <a:solidFill>
                  <a:srgbClr val="262626"/>
                </a:solidFill>
                <a:latin typeface="Arial"/>
              </a:defRPr>
            </a:pPr>
            <a:r>
              <a:t>D7</a:t>
            </a:r>
          </a:p>
        </p:txBody>
      </p:sp>
      <p:sp>
        <p:nvSpPr>
          <p:cNvPr id="105" name="TextBox 104"/>
          <p:cNvSpPr txBox="1"/>
          <p:nvPr/>
        </p:nvSpPr>
        <p:spPr>
          <a:xfrm>
            <a:off x="11172825" y="7867650"/>
            <a:ext cx="125730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200" b="0">
                <a:solidFill>
                  <a:srgbClr val="262626"/>
                </a:solidFill>
                <a:latin typeface="Arial"/>
              </a:defRPr>
            </a:pPr>
            <a:r>
              <a:t>Shipments</a:t>
            </a:r>
          </a:p>
        </p:txBody>
      </p:sp>
      <p:cxnSp>
        <p:nvCxnSpPr>
          <p:cNvPr id="106" name="Connector 105"/>
          <p:cNvCxnSpPr/>
          <p:nvPr/>
        </p:nvCxnSpPr>
        <p:spPr>
          <a:xfrm>
            <a:off x="1571625" y="2114550"/>
            <a:ext cx="1000125"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571625" y="1809750"/>
            <a:ext cx="981075" cy="257175"/>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Account data</a:t>
            </a:r>
          </a:p>
        </p:txBody>
      </p:sp>
      <p:cxnSp>
        <p:nvCxnSpPr>
          <p:cNvPr id="108" name="Connector 107"/>
          <p:cNvCxnSpPr/>
          <p:nvPr/>
        </p:nvCxnSpPr>
        <p:spPr>
          <a:xfrm flipH="1">
            <a:off x="1571625" y="2476500"/>
            <a:ext cx="1000125"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1552575" y="2508163"/>
            <a:ext cx="1009650" cy="346249"/>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Account details</a:t>
            </a:r>
          </a:p>
        </p:txBody>
      </p:sp>
      <p:cxnSp>
        <p:nvCxnSpPr>
          <p:cNvPr id="110" name="Connector 109"/>
          <p:cNvCxnSpPr/>
          <p:nvPr/>
        </p:nvCxnSpPr>
        <p:spPr>
          <a:xfrm>
            <a:off x="2952750" y="2714625"/>
            <a:ext cx="0" cy="428625"/>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600200" y="2857500"/>
            <a:ext cx="1285875"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Profile updates</a:t>
            </a:r>
          </a:p>
        </p:txBody>
      </p:sp>
      <p:cxnSp>
        <p:nvCxnSpPr>
          <p:cNvPr id="112" name="Connector 111"/>
          <p:cNvCxnSpPr/>
          <p:nvPr/>
        </p:nvCxnSpPr>
        <p:spPr>
          <a:xfrm flipV="1">
            <a:off x="3714750" y="2714625"/>
            <a:ext cx="0" cy="428625"/>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3781425" y="2894763"/>
            <a:ext cx="1257300"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Profile</a:t>
            </a:r>
            <a:r>
              <a:t> records</a:t>
            </a:r>
            <a:endParaRPr lang="en-US"/>
          </a:p>
        </p:txBody>
      </p:sp>
      <p:cxnSp>
        <p:nvCxnSpPr>
          <p:cNvPr id="114" name="Connector 113"/>
          <p:cNvCxnSpPr/>
          <p:nvPr/>
        </p:nvCxnSpPr>
        <p:spPr>
          <a:xfrm>
            <a:off x="6257925" y="2190750"/>
            <a:ext cx="457200"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15" name="TextBox 114"/>
          <p:cNvSpPr txBox="1">
            <a:spLocks/>
          </p:cNvSpPr>
          <p:nvPr/>
        </p:nvSpPr>
        <p:spPr>
          <a:xfrm>
            <a:off x="6134100" y="2524125"/>
            <a:ext cx="904875" cy="257175"/>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Card details</a:t>
            </a:r>
          </a:p>
        </p:txBody>
      </p:sp>
      <p:cxnSp>
        <p:nvCxnSpPr>
          <p:cNvPr id="116" name="Connector 115"/>
          <p:cNvCxnSpPr/>
          <p:nvPr/>
        </p:nvCxnSpPr>
        <p:spPr>
          <a:xfrm flipV="1">
            <a:off x="8953500" y="1924050"/>
            <a:ext cx="0" cy="123825"/>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8239125" y="1924050"/>
            <a:ext cx="714375"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8305800" y="1637463"/>
            <a:ext cx="1257300"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Availability</a:t>
            </a:r>
          </a:p>
        </p:txBody>
      </p:sp>
      <p:cxnSp>
        <p:nvCxnSpPr>
          <p:cNvPr id="119" name="Connector 118"/>
          <p:cNvCxnSpPr/>
          <p:nvPr/>
        </p:nvCxnSpPr>
        <p:spPr>
          <a:xfrm>
            <a:off x="7143750" y="1524000"/>
            <a:ext cx="0" cy="28575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829300" y="1585075"/>
            <a:ext cx="1238250"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Search criteria</a:t>
            </a:r>
          </a:p>
        </p:txBody>
      </p:sp>
      <p:cxnSp>
        <p:nvCxnSpPr>
          <p:cNvPr id="121" name="Connector 120"/>
          <p:cNvCxnSpPr/>
          <p:nvPr/>
        </p:nvCxnSpPr>
        <p:spPr>
          <a:xfrm flipV="1">
            <a:off x="7762875" y="1524000"/>
            <a:ext cx="0" cy="28575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7820025" y="1575550"/>
            <a:ext cx="828675"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Results</a:t>
            </a:r>
          </a:p>
        </p:txBody>
      </p:sp>
      <p:cxnSp>
        <p:nvCxnSpPr>
          <p:cNvPr id="123" name="Connector 122"/>
          <p:cNvCxnSpPr/>
          <p:nvPr/>
        </p:nvCxnSpPr>
        <p:spPr>
          <a:xfrm>
            <a:off x="8143875" y="1238250"/>
            <a:ext cx="3095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1239500" y="1238250"/>
            <a:ext cx="0" cy="57150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9172575" y="1047750"/>
            <a:ext cx="1333500" cy="238125"/>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Cart changes</a:t>
            </a:r>
          </a:p>
        </p:txBody>
      </p:sp>
      <p:cxnSp>
        <p:nvCxnSpPr>
          <p:cNvPr id="126" name="Connector 125"/>
          <p:cNvCxnSpPr/>
          <p:nvPr/>
        </p:nvCxnSpPr>
        <p:spPr>
          <a:xfrm flipV="1">
            <a:off x="12001500" y="1428750"/>
            <a:ext cx="0" cy="38100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H="1">
            <a:off x="8143875" y="1428750"/>
            <a:ext cx="3857625"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9296400" y="1504113"/>
            <a:ext cx="1962150"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Cart summary and totals</a:t>
            </a:r>
          </a:p>
        </p:txBody>
      </p:sp>
      <p:cxnSp>
        <p:nvCxnSpPr>
          <p:cNvPr id="129" name="Connector 128"/>
          <p:cNvCxnSpPr/>
          <p:nvPr/>
        </p:nvCxnSpPr>
        <p:spPr>
          <a:xfrm>
            <a:off x="11239500" y="2714625"/>
            <a:ext cx="0" cy="428625"/>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10067925" y="2828925"/>
            <a:ext cx="1095375" cy="257175"/>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Saved cart</a:t>
            </a:r>
          </a:p>
        </p:txBody>
      </p:sp>
      <p:cxnSp>
        <p:nvCxnSpPr>
          <p:cNvPr id="131" name="Connector 130"/>
          <p:cNvCxnSpPr/>
          <p:nvPr/>
        </p:nvCxnSpPr>
        <p:spPr>
          <a:xfrm flipV="1">
            <a:off x="12001500" y="2714625"/>
            <a:ext cx="0" cy="428625"/>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2096750" y="2828925"/>
            <a:ext cx="1152525" cy="257175"/>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Cart records</a:t>
            </a:r>
          </a:p>
        </p:txBody>
      </p:sp>
      <p:cxnSp>
        <p:nvCxnSpPr>
          <p:cNvPr id="133" name="Connector 132"/>
          <p:cNvCxnSpPr/>
          <p:nvPr/>
        </p:nvCxnSpPr>
        <p:spPr>
          <a:xfrm flipH="1">
            <a:off x="12811125" y="2143125"/>
            <a:ext cx="52387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2811125" y="2143125"/>
            <a:ext cx="0" cy="21907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H="1">
            <a:off x="12382500" y="4333875"/>
            <a:ext cx="428625"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2620625" y="3276600"/>
            <a:ext cx="1495425" cy="4191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Order details /</a:t>
            </a:r>
          </a:p>
          <a:p>
            <a:pPr algn="ctr">
              <a:spcBef>
                <a:spcPts val="0"/>
              </a:spcBef>
              <a:spcAft>
                <a:spcPts val="0"/>
              </a:spcAft>
              <a:defRPr sz="1125" b="0">
                <a:solidFill>
                  <a:srgbClr val="262626"/>
                </a:solidFill>
                <a:latin typeface="Arial"/>
              </a:defRPr>
            </a:pPr>
            <a:r>
              <a:t>payment token</a:t>
            </a:r>
          </a:p>
        </p:txBody>
      </p:sp>
      <p:cxnSp>
        <p:nvCxnSpPr>
          <p:cNvPr id="137" name="Connector 136"/>
          <p:cNvCxnSpPr/>
          <p:nvPr/>
        </p:nvCxnSpPr>
        <p:spPr>
          <a:xfrm>
            <a:off x="12382500" y="4714875"/>
            <a:ext cx="68580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13068300" y="2419350"/>
            <a:ext cx="0" cy="2295525"/>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13068300" y="2419350"/>
            <a:ext cx="266700"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13144500" y="2741525"/>
            <a:ext cx="1428750" cy="346249"/>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Confirmation /</a:t>
            </a:r>
          </a:p>
          <a:p>
            <a:pPr algn="ctr">
              <a:spcBef>
                <a:spcPts val="0"/>
              </a:spcBef>
              <a:spcAft>
                <a:spcPts val="0"/>
              </a:spcAft>
              <a:defRPr sz="1125" b="0">
                <a:solidFill>
                  <a:srgbClr val="262626"/>
                </a:solidFill>
                <a:latin typeface="Arial"/>
              </a:defRPr>
            </a:pPr>
            <a:r>
              <a:rPr lang="en-US"/>
              <a:t>invoice</a:t>
            </a:r>
          </a:p>
        </p:txBody>
      </p:sp>
      <p:cxnSp>
        <p:nvCxnSpPr>
          <p:cNvPr id="141" name="Connector 140"/>
          <p:cNvCxnSpPr/>
          <p:nvPr/>
        </p:nvCxnSpPr>
        <p:spPr>
          <a:xfrm>
            <a:off x="1714500" y="4400550"/>
            <a:ext cx="857250"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1676400" y="3943350"/>
            <a:ext cx="895350" cy="400050"/>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Listing / price</a:t>
            </a:r>
          </a:p>
          <a:p>
            <a:pPr algn="ctr">
              <a:spcBef>
                <a:spcPts val="0"/>
              </a:spcBef>
              <a:spcAft>
                <a:spcPts val="0"/>
              </a:spcAft>
              <a:defRPr sz="1125" b="0">
                <a:solidFill>
                  <a:srgbClr val="262626"/>
                </a:solidFill>
                <a:latin typeface="Arial"/>
              </a:defRPr>
            </a:pPr>
            <a:r>
              <a:t>updates</a:t>
            </a:r>
          </a:p>
        </p:txBody>
      </p:sp>
      <p:cxnSp>
        <p:nvCxnSpPr>
          <p:cNvPr id="143" name="Connector 142"/>
          <p:cNvCxnSpPr/>
          <p:nvPr/>
        </p:nvCxnSpPr>
        <p:spPr>
          <a:xfrm>
            <a:off x="4095750" y="4286250"/>
            <a:ext cx="123825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5334000" y="2333625"/>
            <a:ext cx="0" cy="1952625"/>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4486275" y="3280525"/>
            <a:ext cx="1666875"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Catalog changes</a:t>
            </a:r>
          </a:p>
        </p:txBody>
      </p:sp>
      <p:cxnSp>
        <p:nvCxnSpPr>
          <p:cNvPr id="146" name="Connector 145"/>
          <p:cNvCxnSpPr/>
          <p:nvPr/>
        </p:nvCxnSpPr>
        <p:spPr>
          <a:xfrm>
            <a:off x="2952750" y="5000625"/>
            <a:ext cx="0" cy="47625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1657350" y="5191125"/>
            <a:ext cx="1200150" cy="257175"/>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Audit entries</a:t>
            </a:r>
          </a:p>
        </p:txBody>
      </p:sp>
      <p:cxnSp>
        <p:nvCxnSpPr>
          <p:cNvPr id="148" name="Connector 147"/>
          <p:cNvCxnSpPr/>
          <p:nvPr/>
        </p:nvCxnSpPr>
        <p:spPr>
          <a:xfrm flipV="1">
            <a:off x="1066800" y="3714750"/>
            <a:ext cx="0" cy="523875"/>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066800" y="3714750"/>
            <a:ext cx="60293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7096125" y="3714750"/>
            <a:ext cx="0" cy="38100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3305175" y="3556750"/>
            <a:ext cx="2495550"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Stock and acquisition updates</a:t>
            </a:r>
          </a:p>
        </p:txBody>
      </p:sp>
      <p:cxnSp>
        <p:nvCxnSpPr>
          <p:cNvPr id="152" name="Connector 151"/>
          <p:cNvCxnSpPr/>
          <p:nvPr/>
        </p:nvCxnSpPr>
        <p:spPr>
          <a:xfrm>
            <a:off x="7143750" y="5000625"/>
            <a:ext cx="0" cy="47625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5838825" y="5172075"/>
            <a:ext cx="1257300" cy="257175"/>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Stock changes</a:t>
            </a:r>
          </a:p>
        </p:txBody>
      </p:sp>
      <p:cxnSp>
        <p:nvCxnSpPr>
          <p:cNvPr id="154" name="Connector 153"/>
          <p:cNvCxnSpPr/>
          <p:nvPr/>
        </p:nvCxnSpPr>
        <p:spPr>
          <a:xfrm flipV="1">
            <a:off x="7858125" y="5000625"/>
            <a:ext cx="0" cy="47625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7915275" y="5172075"/>
            <a:ext cx="1228725" cy="257175"/>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Stock records</a:t>
            </a:r>
          </a:p>
        </p:txBody>
      </p:sp>
      <p:cxnSp>
        <p:nvCxnSpPr>
          <p:cNvPr id="156" name="Connector 155"/>
          <p:cNvCxnSpPr/>
          <p:nvPr/>
        </p:nvCxnSpPr>
        <p:spPr>
          <a:xfrm flipH="1">
            <a:off x="6238875" y="4638675"/>
            <a:ext cx="47625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6238875" y="4638675"/>
            <a:ext cx="0" cy="981075"/>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H="1">
            <a:off x="4143375" y="5619750"/>
            <a:ext cx="2095500"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4381500" y="5747500"/>
            <a:ext cx="1819275"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Inventory audit entries</a:t>
            </a:r>
          </a:p>
        </p:txBody>
      </p:sp>
      <p:cxnSp>
        <p:nvCxnSpPr>
          <p:cNvPr id="160" name="Connector 159"/>
          <p:cNvCxnSpPr/>
          <p:nvPr/>
        </p:nvCxnSpPr>
        <p:spPr>
          <a:xfrm>
            <a:off x="11572875" y="3429000"/>
            <a:ext cx="0" cy="66675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61" name="TextBox 160"/>
          <p:cNvSpPr txBox="1">
            <a:spLocks/>
          </p:cNvSpPr>
          <p:nvPr/>
        </p:nvSpPr>
        <p:spPr>
          <a:xfrm>
            <a:off x="11639550" y="3638550"/>
            <a:ext cx="1238250" cy="247650"/>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Cart contents</a:t>
            </a:r>
          </a:p>
        </p:txBody>
      </p:sp>
      <p:cxnSp>
        <p:nvCxnSpPr>
          <p:cNvPr id="162" name="Connector 161"/>
          <p:cNvCxnSpPr/>
          <p:nvPr/>
        </p:nvCxnSpPr>
        <p:spPr>
          <a:xfrm>
            <a:off x="8286750" y="5619750"/>
            <a:ext cx="1190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9477375" y="4286250"/>
            <a:ext cx="0" cy="133350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9477375" y="4286250"/>
            <a:ext cx="1381125"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65" name="TextBox 164"/>
          <p:cNvSpPr txBox="1"/>
          <p:nvPr/>
        </p:nvSpPr>
        <p:spPr>
          <a:xfrm>
            <a:off x="9410700" y="3966325"/>
            <a:ext cx="1362075"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Available stock</a:t>
            </a:r>
          </a:p>
        </p:txBody>
      </p:sp>
      <p:cxnSp>
        <p:nvCxnSpPr>
          <p:cNvPr id="166" name="Connector 165"/>
          <p:cNvCxnSpPr/>
          <p:nvPr/>
        </p:nvCxnSpPr>
        <p:spPr>
          <a:xfrm flipH="1">
            <a:off x="9858375" y="4676775"/>
            <a:ext cx="10001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9858375" y="4676775"/>
            <a:ext cx="0" cy="110490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H="1">
            <a:off x="7858125" y="5781675"/>
            <a:ext cx="200025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7858125" y="5762625"/>
            <a:ext cx="0" cy="1905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70" name="TextBox 169"/>
          <p:cNvSpPr txBox="1"/>
          <p:nvPr/>
        </p:nvSpPr>
        <p:spPr>
          <a:xfrm>
            <a:off x="8496300" y="5566525"/>
            <a:ext cx="1495425"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Stock reservation</a:t>
            </a:r>
          </a:p>
        </p:txBody>
      </p:sp>
      <p:cxnSp>
        <p:nvCxnSpPr>
          <p:cNvPr id="171" name="Connector 170"/>
          <p:cNvCxnSpPr/>
          <p:nvPr/>
        </p:nvCxnSpPr>
        <p:spPr>
          <a:xfrm>
            <a:off x="12382500" y="4467225"/>
            <a:ext cx="952500"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72" name="TextBox 171"/>
          <p:cNvSpPr txBox="1"/>
          <p:nvPr/>
        </p:nvSpPr>
        <p:spPr>
          <a:xfrm>
            <a:off x="12411075" y="4190163"/>
            <a:ext cx="895350"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Authorization</a:t>
            </a:r>
          </a:p>
        </p:txBody>
      </p:sp>
      <p:cxnSp>
        <p:nvCxnSpPr>
          <p:cNvPr id="173" name="Connector 172"/>
          <p:cNvCxnSpPr/>
          <p:nvPr/>
        </p:nvCxnSpPr>
        <p:spPr>
          <a:xfrm flipH="1">
            <a:off x="12382500" y="4695825"/>
            <a:ext cx="952500"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12411075" y="4756900"/>
            <a:ext cx="895350"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Status</a:t>
            </a:r>
          </a:p>
        </p:txBody>
      </p:sp>
      <p:cxnSp>
        <p:nvCxnSpPr>
          <p:cNvPr id="175" name="Connector 174"/>
          <p:cNvCxnSpPr/>
          <p:nvPr/>
        </p:nvCxnSpPr>
        <p:spPr>
          <a:xfrm>
            <a:off x="11334750" y="5000625"/>
            <a:ext cx="0" cy="47625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25075" y="5153025"/>
            <a:ext cx="1133475" cy="247650"/>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Order record</a:t>
            </a:r>
          </a:p>
        </p:txBody>
      </p:sp>
      <p:cxnSp>
        <p:nvCxnSpPr>
          <p:cNvPr id="177" name="Connector 176"/>
          <p:cNvCxnSpPr/>
          <p:nvPr/>
        </p:nvCxnSpPr>
        <p:spPr>
          <a:xfrm>
            <a:off x="12192000" y="5000625"/>
            <a:ext cx="0" cy="295275"/>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12192000" y="5295900"/>
            <a:ext cx="171450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13906500" y="5295900"/>
            <a:ext cx="0" cy="180975"/>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80" name="TextBox 179"/>
          <p:cNvSpPr txBox="1"/>
          <p:nvPr/>
        </p:nvSpPr>
        <p:spPr>
          <a:xfrm>
            <a:off x="12382500" y="5095038"/>
            <a:ext cx="1485900"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Payment record</a:t>
            </a:r>
          </a:p>
        </p:txBody>
      </p:sp>
      <p:cxnSp>
        <p:nvCxnSpPr>
          <p:cNvPr id="181" name="Connector 180"/>
          <p:cNvCxnSpPr/>
          <p:nvPr/>
        </p:nvCxnSpPr>
        <p:spPr>
          <a:xfrm>
            <a:off x="11334750" y="5762625"/>
            <a:ext cx="0" cy="809625"/>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1439525" y="6105525"/>
            <a:ext cx="1419225" cy="257175"/>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Confirmed order</a:t>
            </a:r>
          </a:p>
        </p:txBody>
      </p:sp>
      <p:cxnSp>
        <p:nvCxnSpPr>
          <p:cNvPr id="183" name="Connector 182"/>
          <p:cNvCxnSpPr/>
          <p:nvPr/>
        </p:nvCxnSpPr>
        <p:spPr>
          <a:xfrm flipH="1">
            <a:off x="10382250" y="5619750"/>
            <a:ext cx="47625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10382250" y="5619750"/>
            <a:ext cx="0" cy="333375"/>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H="1">
            <a:off x="8620125" y="5953125"/>
            <a:ext cx="17621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8620125" y="5953125"/>
            <a:ext cx="0" cy="885825"/>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H="1">
            <a:off x="8239125" y="6838950"/>
            <a:ext cx="381000"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8629650" y="5991225"/>
            <a:ext cx="1257300" cy="257175"/>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Order details</a:t>
            </a:r>
          </a:p>
        </p:txBody>
      </p:sp>
      <p:cxnSp>
        <p:nvCxnSpPr>
          <p:cNvPr id="189" name="Connector 188"/>
          <p:cNvCxnSpPr/>
          <p:nvPr/>
        </p:nvCxnSpPr>
        <p:spPr>
          <a:xfrm flipH="1">
            <a:off x="10096500" y="7153275"/>
            <a:ext cx="76200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10096500" y="7153275"/>
            <a:ext cx="0" cy="695325"/>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H="1">
            <a:off x="7858125" y="7848600"/>
            <a:ext cx="223837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7858125" y="7848600"/>
            <a:ext cx="0" cy="104775"/>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93" name="TextBox 192"/>
          <p:cNvSpPr txBox="1"/>
          <p:nvPr/>
        </p:nvSpPr>
        <p:spPr>
          <a:xfrm>
            <a:off x="8667750" y="7581900"/>
            <a:ext cx="1362075" cy="247650"/>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Shipment status</a:t>
            </a:r>
          </a:p>
        </p:txBody>
      </p:sp>
      <p:cxnSp>
        <p:nvCxnSpPr>
          <p:cNvPr id="194" name="Connector 193"/>
          <p:cNvCxnSpPr/>
          <p:nvPr/>
        </p:nvCxnSpPr>
        <p:spPr>
          <a:xfrm flipV="1">
            <a:off x="7096125" y="7858125"/>
            <a:ext cx="0" cy="952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H="1">
            <a:off x="6429375" y="7858125"/>
            <a:ext cx="66675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6429375" y="7000875"/>
            <a:ext cx="0" cy="8572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6429375" y="7000875"/>
            <a:ext cx="285750"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198" name="TextBox 197"/>
          <p:cNvSpPr txBox="1"/>
          <p:nvPr/>
        </p:nvSpPr>
        <p:spPr>
          <a:xfrm>
            <a:off x="5210175" y="7366750"/>
            <a:ext cx="1228725"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Return request</a:t>
            </a:r>
          </a:p>
        </p:txBody>
      </p:sp>
      <p:cxnSp>
        <p:nvCxnSpPr>
          <p:cNvPr id="199" name="Connector 198"/>
          <p:cNvCxnSpPr/>
          <p:nvPr/>
        </p:nvCxnSpPr>
        <p:spPr>
          <a:xfrm>
            <a:off x="8239125" y="7286625"/>
            <a:ext cx="2000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8439150" y="7286625"/>
            <a:ext cx="0" cy="866775"/>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H="1">
            <a:off x="8239125" y="8153400"/>
            <a:ext cx="200025"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202" name="TextBox 201"/>
          <p:cNvSpPr txBox="1"/>
          <p:nvPr/>
        </p:nvSpPr>
        <p:spPr>
          <a:xfrm>
            <a:off x="8524875" y="8020050"/>
            <a:ext cx="1428750" cy="333375"/>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Return status /</a:t>
            </a:r>
          </a:p>
          <a:p>
            <a:pPr algn="ctr">
              <a:spcBef>
                <a:spcPts val="0"/>
              </a:spcBef>
              <a:spcAft>
                <a:spcPts val="0"/>
              </a:spcAft>
              <a:defRPr sz="1125" b="0">
                <a:solidFill>
                  <a:srgbClr val="262626"/>
                </a:solidFill>
                <a:latin typeface="Arial"/>
              </a:defRPr>
            </a:pPr>
            <a:r>
              <a:t>authorization</a:t>
            </a:r>
          </a:p>
        </p:txBody>
      </p:sp>
      <p:cxnSp>
        <p:nvCxnSpPr>
          <p:cNvPr id="203" name="Connector 202"/>
          <p:cNvCxnSpPr/>
          <p:nvPr/>
        </p:nvCxnSpPr>
        <p:spPr>
          <a:xfrm>
            <a:off x="7477125" y="7477125"/>
            <a:ext cx="0" cy="9525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204" name="TextBox 203"/>
          <p:cNvSpPr txBox="1"/>
          <p:nvPr/>
        </p:nvSpPr>
        <p:spPr>
          <a:xfrm>
            <a:off x="5143500" y="7785850"/>
            <a:ext cx="1381125"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Return record</a:t>
            </a:r>
          </a:p>
        </p:txBody>
      </p:sp>
      <p:cxnSp>
        <p:nvCxnSpPr>
          <p:cNvPr id="205" name="Connector 204"/>
          <p:cNvCxnSpPr/>
          <p:nvPr/>
        </p:nvCxnSpPr>
        <p:spPr>
          <a:xfrm>
            <a:off x="12382500" y="6877050"/>
            <a:ext cx="952500"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206" name="TextBox 205"/>
          <p:cNvSpPr txBox="1">
            <a:spLocks/>
          </p:cNvSpPr>
          <p:nvPr/>
        </p:nvSpPr>
        <p:spPr>
          <a:xfrm>
            <a:off x="12392025" y="6505575"/>
            <a:ext cx="914400" cy="3429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Shipment request</a:t>
            </a:r>
          </a:p>
        </p:txBody>
      </p:sp>
      <p:cxnSp>
        <p:nvCxnSpPr>
          <p:cNvPr id="207" name="Connector 206"/>
          <p:cNvCxnSpPr/>
          <p:nvPr/>
        </p:nvCxnSpPr>
        <p:spPr>
          <a:xfrm flipH="1">
            <a:off x="12382500" y="7286625"/>
            <a:ext cx="952500"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208" name="TextBox 207"/>
          <p:cNvSpPr txBox="1"/>
          <p:nvPr/>
        </p:nvSpPr>
        <p:spPr>
          <a:xfrm>
            <a:off x="12392025" y="7324725"/>
            <a:ext cx="914400" cy="3429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Tracking updates</a:t>
            </a:r>
          </a:p>
        </p:txBody>
      </p:sp>
      <p:cxnSp>
        <p:nvCxnSpPr>
          <p:cNvPr id="209" name="Connector 208"/>
          <p:cNvCxnSpPr/>
          <p:nvPr/>
        </p:nvCxnSpPr>
        <p:spPr>
          <a:xfrm>
            <a:off x="11620500" y="7477125"/>
            <a:ext cx="0" cy="38100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210" name="TextBox 209"/>
          <p:cNvSpPr txBox="1"/>
          <p:nvPr/>
        </p:nvSpPr>
        <p:spPr>
          <a:xfrm>
            <a:off x="11715750" y="7667625"/>
            <a:ext cx="1524000" cy="247650"/>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Shipment record</a:t>
            </a:r>
          </a:p>
        </p:txBody>
      </p:sp>
      <p:sp>
        <p:nvSpPr>
          <p:cNvPr id="211" name="Rectangle 210"/>
          <p:cNvSpPr>
            <a:spLocks/>
          </p:cNvSpPr>
          <p:nvPr/>
        </p:nvSpPr>
        <p:spPr>
          <a:xfrm>
            <a:off x="9001125" y="6191250"/>
            <a:ext cx="1428750" cy="371475"/>
          </a:xfrm>
          <a:prstGeom prst="rect">
            <a:avLst/>
          </a:prstGeom>
          <a:solidFill>
            <a:srgbClr val="FFFFFF"/>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2" name="TextBox 211"/>
          <p:cNvSpPr txBox="1">
            <a:spLocks/>
          </p:cNvSpPr>
          <p:nvPr/>
        </p:nvSpPr>
        <p:spPr>
          <a:xfrm>
            <a:off x="9029700" y="6229350"/>
            <a:ext cx="1371600" cy="295275"/>
          </a:xfrm>
          <a:prstGeom prst="rect">
            <a:avLst/>
          </a:prstGeom>
          <a:solidFill>
            <a:srgbClr val="FFFFFF"/>
          </a:solidFill>
        </p:spPr>
        <p:txBody>
          <a:bodyPr wrap="square" lIns="25400" tIns="0" rIns="25400" bIns="0" anchor="ctr">
            <a:spAutoFit/>
          </a:bodyPr>
          <a:lstStyle/>
          <a:p>
            <a:pPr algn="ctr">
              <a:spcBef>
                <a:spcPts val="0"/>
              </a:spcBef>
              <a:spcAft>
                <a:spcPts val="0"/>
              </a:spcAft>
              <a:defRPr sz="1350" b="0">
                <a:solidFill>
                  <a:srgbClr val="262626"/>
                </a:solidFill>
                <a:latin typeface="Arial"/>
              </a:defRPr>
            </a:pPr>
            <a:r>
              <a:rPr lang="en-US"/>
              <a:t>Administrators</a:t>
            </a:r>
          </a:p>
        </p:txBody>
      </p:sp>
      <p:cxnSp>
        <p:nvCxnSpPr>
          <p:cNvPr id="213" name="Connector 212"/>
          <p:cNvCxnSpPr/>
          <p:nvPr/>
        </p:nvCxnSpPr>
        <p:spPr>
          <a:xfrm>
            <a:off x="10429875" y="6381750"/>
            <a:ext cx="11906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11620500" y="6381750"/>
            <a:ext cx="0" cy="19050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10325100" y="5923713"/>
            <a:ext cx="1657350"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Fulfillment updates</a:t>
            </a:r>
          </a:p>
        </p:txBody>
      </p:sp>
      <p:cxnSp>
        <p:nvCxnSpPr>
          <p:cNvPr id="216" name="Connector 215"/>
          <p:cNvCxnSpPr/>
          <p:nvPr/>
        </p:nvCxnSpPr>
        <p:spPr>
          <a:xfrm flipH="1">
            <a:off x="10525125" y="6734175"/>
            <a:ext cx="33337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10525125" y="6429375"/>
            <a:ext cx="0" cy="30480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H="1">
            <a:off x="10429875" y="6429375"/>
            <a:ext cx="95250"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9067800" y="6785725"/>
            <a:ext cx="1238250"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Pick lists</a:t>
            </a:r>
          </a:p>
        </p:txBody>
      </p:sp>
      <p:cxnSp>
        <p:nvCxnSpPr>
          <p:cNvPr id="220" name="Connector 219"/>
          <p:cNvCxnSpPr/>
          <p:nvPr/>
        </p:nvCxnSpPr>
        <p:spPr>
          <a:xfrm>
            <a:off x="4667250" y="6115050"/>
            <a:ext cx="158115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667250" y="6400800"/>
            <a:ext cx="158115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962525" y="6115050"/>
            <a:ext cx="0" cy="2857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223" name="TextBox 222"/>
          <p:cNvSpPr txBox="1"/>
          <p:nvPr/>
        </p:nvSpPr>
        <p:spPr>
          <a:xfrm>
            <a:off x="4667250" y="6124575"/>
            <a:ext cx="28575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1">
                <a:solidFill>
                  <a:srgbClr val="262626"/>
                </a:solidFill>
                <a:latin typeface="Arial"/>
              </a:defRPr>
            </a:pPr>
            <a:r>
              <a:t>D1</a:t>
            </a:r>
          </a:p>
        </p:txBody>
      </p:sp>
      <p:sp>
        <p:nvSpPr>
          <p:cNvPr id="224" name="TextBox 223"/>
          <p:cNvSpPr txBox="1"/>
          <p:nvPr/>
        </p:nvSpPr>
        <p:spPr>
          <a:xfrm>
            <a:off x="4981575" y="6165592"/>
            <a:ext cx="1266825" cy="184666"/>
          </a:xfrm>
          <a:prstGeom prst="rect">
            <a:avLst/>
          </a:prstGeom>
          <a:solidFill>
            <a:srgbClr val="FFFFFF"/>
          </a:solidFill>
        </p:spPr>
        <p:txBody>
          <a:bodyPr wrap="square" lIns="25400" tIns="0" rIns="25400" bIns="0" anchor="ctr">
            <a:spAutoFit/>
          </a:bodyPr>
          <a:lstStyle/>
          <a:p>
            <a:pPr algn="ctr">
              <a:spcBef>
                <a:spcPts val="0"/>
              </a:spcBef>
              <a:spcAft>
                <a:spcPts val="0"/>
              </a:spcAft>
              <a:defRPr sz="1200" b="0">
                <a:solidFill>
                  <a:srgbClr val="262626"/>
                </a:solidFill>
                <a:latin typeface="Arial"/>
              </a:defRPr>
            </a:pPr>
            <a:r>
              <a:rPr lang="en-US"/>
              <a:t>Customers</a:t>
            </a:r>
          </a:p>
        </p:txBody>
      </p:sp>
      <p:cxnSp>
        <p:nvCxnSpPr>
          <p:cNvPr id="225" name="Connector 224"/>
          <p:cNvCxnSpPr/>
          <p:nvPr/>
        </p:nvCxnSpPr>
        <p:spPr>
          <a:xfrm>
            <a:off x="4667250" y="6496050"/>
            <a:ext cx="158115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667250" y="6781800"/>
            <a:ext cx="158115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962525" y="6496050"/>
            <a:ext cx="0" cy="2857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4667250" y="6505575"/>
            <a:ext cx="28575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1">
                <a:solidFill>
                  <a:srgbClr val="262626"/>
                </a:solidFill>
                <a:latin typeface="Arial"/>
              </a:defRPr>
            </a:pPr>
            <a:r>
              <a:t>D3</a:t>
            </a:r>
          </a:p>
        </p:txBody>
      </p:sp>
      <p:sp>
        <p:nvSpPr>
          <p:cNvPr id="229" name="TextBox 228"/>
          <p:cNvSpPr txBox="1"/>
          <p:nvPr/>
        </p:nvSpPr>
        <p:spPr>
          <a:xfrm>
            <a:off x="4981575" y="6505575"/>
            <a:ext cx="1266825"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200" b="0">
                <a:solidFill>
                  <a:srgbClr val="262626"/>
                </a:solidFill>
                <a:latin typeface="Arial"/>
              </a:defRPr>
            </a:pPr>
            <a:r>
              <a:t>Inventory</a:t>
            </a:r>
          </a:p>
        </p:txBody>
      </p:sp>
      <p:cxnSp>
        <p:nvCxnSpPr>
          <p:cNvPr id="230" name="Connector 229"/>
          <p:cNvCxnSpPr/>
          <p:nvPr/>
        </p:nvCxnSpPr>
        <p:spPr>
          <a:xfrm>
            <a:off x="4667250" y="6877050"/>
            <a:ext cx="158115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67250" y="7162800"/>
            <a:ext cx="158115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962525" y="6877050"/>
            <a:ext cx="0" cy="2857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233" name="TextBox 232"/>
          <p:cNvSpPr txBox="1"/>
          <p:nvPr/>
        </p:nvSpPr>
        <p:spPr>
          <a:xfrm>
            <a:off x="4667250" y="6886575"/>
            <a:ext cx="285750"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1">
                <a:solidFill>
                  <a:srgbClr val="262626"/>
                </a:solidFill>
                <a:latin typeface="Arial"/>
              </a:defRPr>
            </a:pPr>
            <a:r>
              <a:t>D5</a:t>
            </a:r>
          </a:p>
        </p:txBody>
      </p:sp>
      <p:sp>
        <p:nvSpPr>
          <p:cNvPr id="234" name="TextBox 233"/>
          <p:cNvSpPr txBox="1"/>
          <p:nvPr/>
        </p:nvSpPr>
        <p:spPr>
          <a:xfrm>
            <a:off x="4981575" y="6886575"/>
            <a:ext cx="1266825"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200" b="0">
                <a:solidFill>
                  <a:srgbClr val="262626"/>
                </a:solidFill>
                <a:latin typeface="Arial"/>
              </a:defRPr>
            </a:pPr>
            <a:r>
              <a:t>Orders</a:t>
            </a:r>
          </a:p>
        </p:txBody>
      </p:sp>
      <p:cxnSp>
        <p:nvCxnSpPr>
          <p:cNvPr id="235" name="Connector 234"/>
          <p:cNvCxnSpPr/>
          <p:nvPr/>
        </p:nvCxnSpPr>
        <p:spPr>
          <a:xfrm>
            <a:off x="4667250" y="7258050"/>
            <a:ext cx="158115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667250" y="7543800"/>
            <a:ext cx="158115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62525" y="7258050"/>
            <a:ext cx="0" cy="2857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sp>
        <p:nvSpPr>
          <p:cNvPr id="238" name="TextBox 237"/>
          <p:cNvSpPr txBox="1"/>
          <p:nvPr/>
        </p:nvSpPr>
        <p:spPr>
          <a:xfrm>
            <a:off x="4667250" y="7314363"/>
            <a:ext cx="285750"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1">
                <a:solidFill>
                  <a:srgbClr val="262626"/>
                </a:solidFill>
                <a:latin typeface="Arial"/>
              </a:defRPr>
            </a:pPr>
            <a:r>
              <a:rPr lang="en-US"/>
              <a:t>D8</a:t>
            </a:r>
          </a:p>
        </p:txBody>
      </p:sp>
      <p:sp>
        <p:nvSpPr>
          <p:cNvPr id="239" name="TextBox 238"/>
          <p:cNvSpPr txBox="1">
            <a:spLocks/>
          </p:cNvSpPr>
          <p:nvPr/>
        </p:nvSpPr>
        <p:spPr>
          <a:xfrm>
            <a:off x="4981575" y="7267575"/>
            <a:ext cx="1266825" cy="266700"/>
          </a:xfrm>
          <a:prstGeom prst="rect">
            <a:avLst/>
          </a:prstGeom>
          <a:solidFill>
            <a:srgbClr val="FFFFFF"/>
          </a:solidFill>
        </p:spPr>
        <p:txBody>
          <a:bodyPr wrap="square" lIns="25400" tIns="0" rIns="25400" bIns="0" anchor="ctr">
            <a:spAutoFit/>
          </a:bodyPr>
          <a:lstStyle/>
          <a:p>
            <a:pPr algn="ctr">
              <a:spcBef>
                <a:spcPts val="0"/>
              </a:spcBef>
              <a:spcAft>
                <a:spcPts val="0"/>
              </a:spcAft>
              <a:defRPr sz="1200" b="0">
                <a:solidFill>
                  <a:srgbClr val="262626"/>
                </a:solidFill>
                <a:latin typeface="Arial"/>
              </a:defRPr>
            </a:pPr>
            <a:r>
              <a:rPr lang="en-US"/>
              <a:t>Returns</a:t>
            </a:r>
          </a:p>
        </p:txBody>
      </p:sp>
      <p:cxnSp>
        <p:nvCxnSpPr>
          <p:cNvPr id="240" name="Connector 239"/>
          <p:cNvCxnSpPr/>
          <p:nvPr/>
        </p:nvCxnSpPr>
        <p:spPr>
          <a:xfrm flipH="1">
            <a:off x="4314825" y="6257925"/>
            <a:ext cx="3524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4314825" y="6257925"/>
            <a:ext cx="0" cy="5143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H="1">
            <a:off x="3619500" y="6772275"/>
            <a:ext cx="695325"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243" name="TextBox 242"/>
          <p:cNvSpPr txBox="1"/>
          <p:nvPr/>
        </p:nvSpPr>
        <p:spPr>
          <a:xfrm>
            <a:off x="3638550" y="6076950"/>
            <a:ext cx="962025" cy="238125"/>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Profiles</a:t>
            </a:r>
          </a:p>
        </p:txBody>
      </p:sp>
      <p:cxnSp>
        <p:nvCxnSpPr>
          <p:cNvPr id="244" name="Connector 243"/>
          <p:cNvCxnSpPr/>
          <p:nvPr/>
        </p:nvCxnSpPr>
        <p:spPr>
          <a:xfrm flipH="1">
            <a:off x="4400550" y="6638925"/>
            <a:ext cx="266700"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4400550" y="6638925"/>
            <a:ext cx="0" cy="333375"/>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flipH="1">
            <a:off x="3619500" y="6972300"/>
            <a:ext cx="781050"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247" name="TextBox 246"/>
          <p:cNvSpPr txBox="1"/>
          <p:nvPr/>
        </p:nvSpPr>
        <p:spPr>
          <a:xfrm>
            <a:off x="3667125" y="6480925"/>
            <a:ext cx="942975"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Stock</a:t>
            </a:r>
          </a:p>
        </p:txBody>
      </p:sp>
      <p:cxnSp>
        <p:nvCxnSpPr>
          <p:cNvPr id="248" name="Connector 247"/>
          <p:cNvCxnSpPr/>
          <p:nvPr/>
        </p:nvCxnSpPr>
        <p:spPr>
          <a:xfrm flipH="1">
            <a:off x="3619500" y="7019925"/>
            <a:ext cx="1047750"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249" name="TextBox 248"/>
          <p:cNvSpPr txBox="1"/>
          <p:nvPr/>
        </p:nvSpPr>
        <p:spPr>
          <a:xfrm>
            <a:off x="3686175" y="6800850"/>
            <a:ext cx="923925" cy="219075"/>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Sales</a:t>
            </a:r>
          </a:p>
        </p:txBody>
      </p:sp>
      <p:cxnSp>
        <p:nvCxnSpPr>
          <p:cNvPr id="250" name="Connector 249"/>
          <p:cNvCxnSpPr/>
          <p:nvPr/>
        </p:nvCxnSpPr>
        <p:spPr>
          <a:xfrm flipH="1">
            <a:off x="4276725" y="7400925"/>
            <a:ext cx="390525" cy="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4276725" y="7267575"/>
            <a:ext cx="0" cy="133350"/>
          </a:xfrm>
          <a:prstGeom prst="line">
            <a:avLst/>
          </a:prstGeom>
          <a:ln w="1143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H="1">
            <a:off x="3619500" y="7267575"/>
            <a:ext cx="657225"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253" name="TextBox 252"/>
          <p:cNvSpPr txBox="1"/>
          <p:nvPr/>
        </p:nvSpPr>
        <p:spPr>
          <a:xfrm>
            <a:off x="3629025" y="7447713"/>
            <a:ext cx="971550" cy="173124"/>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rPr lang="en-US"/>
              <a:t>Returns</a:t>
            </a:r>
          </a:p>
        </p:txBody>
      </p:sp>
      <p:cxnSp>
        <p:nvCxnSpPr>
          <p:cNvPr id="254" name="Connector 253"/>
          <p:cNvCxnSpPr/>
          <p:nvPr/>
        </p:nvCxnSpPr>
        <p:spPr>
          <a:xfrm flipH="1">
            <a:off x="1714500" y="7115175"/>
            <a:ext cx="381000" cy="0"/>
          </a:xfrm>
          <a:prstGeom prst="line">
            <a:avLst/>
          </a:prstGeom>
          <a:ln w="11430">
            <a:solidFill>
              <a:srgbClr val="262626"/>
            </a:solidFill>
            <a:tailEnd type="triangle" w="sm" len="sm"/>
          </a:ln>
        </p:spPr>
        <p:style>
          <a:lnRef idx="2">
            <a:schemeClr val="accent1"/>
          </a:lnRef>
          <a:fillRef idx="0">
            <a:schemeClr val="accent1"/>
          </a:fillRef>
          <a:effectRef idx="1">
            <a:schemeClr val="accent1"/>
          </a:effectRef>
          <a:fontRef idx="minor">
            <a:schemeClr val="tx1"/>
          </a:fontRef>
        </p:style>
      </p:cxnSp>
      <p:sp>
        <p:nvSpPr>
          <p:cNvPr id="255" name="TextBox 254"/>
          <p:cNvSpPr txBox="1"/>
          <p:nvPr/>
        </p:nvSpPr>
        <p:spPr>
          <a:xfrm>
            <a:off x="866775" y="7391400"/>
            <a:ext cx="1333500" cy="381000"/>
          </a:xfrm>
          <a:prstGeom prst="rect">
            <a:avLst/>
          </a:prstGeom>
          <a:solidFill>
            <a:srgbClr val="FFFFFF"/>
          </a:solidFill>
        </p:spPr>
        <p:txBody>
          <a:bodyPr wrap="square" lIns="25400" tIns="0" rIns="25400" bIns="0" anchor="ctr">
            <a:spAutoFit/>
          </a:bodyPr>
          <a:lstStyle/>
          <a:p>
            <a:pPr algn="ctr">
              <a:spcBef>
                <a:spcPts val="0"/>
              </a:spcBef>
              <a:spcAft>
                <a:spcPts val="0"/>
              </a:spcAft>
              <a:defRPr sz="1125" b="0">
                <a:solidFill>
                  <a:srgbClr val="262626"/>
                </a:solidFill>
                <a:latin typeface="Arial"/>
              </a:defRPr>
            </a:pPr>
            <a:r>
              <a:t>Management</a:t>
            </a:r>
          </a:p>
          <a:p>
            <a:pPr algn="ctr">
              <a:spcBef>
                <a:spcPts val="0"/>
              </a:spcBef>
              <a:spcAft>
                <a:spcPts val="0"/>
              </a:spcAft>
              <a:defRPr sz="1125" b="0">
                <a:solidFill>
                  <a:srgbClr val="262626"/>
                </a:solidFill>
                <a:latin typeface="Arial"/>
              </a:defRPr>
            </a:pPr>
            <a:r>
              <a:t>reports</a:t>
            </a:r>
          </a:p>
        </p:txBody>
      </p:sp>
      <p:sp>
        <p:nvSpPr>
          <p:cNvPr id="256" name="TextBox 255"/>
          <p:cNvSpPr txBox="1"/>
          <p:nvPr/>
        </p:nvSpPr>
        <p:spPr>
          <a:xfrm>
            <a:off x="428625" y="8210550"/>
            <a:ext cx="5953125" cy="228600"/>
          </a:xfrm>
          <a:prstGeom prst="rect">
            <a:avLst/>
          </a:prstGeom>
          <a:solidFill>
            <a:srgbClr val="FFFFFF"/>
          </a:solidFill>
        </p:spPr>
        <p:txBody>
          <a:bodyPr wrap="square" lIns="25400" tIns="0" rIns="25400" bIns="0" anchor="ctr">
            <a:spAutoFit/>
          </a:bodyPr>
          <a:lstStyle/>
          <a:p>
            <a:pPr algn="l">
              <a:spcBef>
                <a:spcPts val="0"/>
              </a:spcBef>
              <a:spcAft>
                <a:spcPts val="0"/>
              </a:spcAft>
              <a:defRPr sz="1050" b="0">
                <a:solidFill>
                  <a:srgbClr val="262626"/>
                </a:solidFill>
                <a:latin typeface="Arial"/>
              </a:defRPr>
            </a:pPr>
            <a:r>
              <a:t>Repeated entity names and store IDs identify the same logical object.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3875" y="257175"/>
            <a:ext cx="14144625" cy="571500"/>
          </a:xfrm>
          <a:prstGeom prst="rect">
            <a:avLst/>
          </a:prstGeom>
          <a:solidFill>
            <a:srgbClr val="FFFFFF"/>
          </a:solidFill>
        </p:spPr>
        <p:txBody>
          <a:bodyPr wrap="square" lIns="38100" tIns="0" rIns="38100" bIns="0" anchor="ctr">
            <a:spAutoFit/>
          </a:bodyPr>
          <a:lstStyle/>
          <a:p>
            <a:pPr algn="l">
              <a:spcBef>
                <a:spcPts val="0"/>
              </a:spcBef>
              <a:spcAft>
                <a:spcPts val="0"/>
              </a:spcAft>
              <a:defRPr sz="3000" b="1">
                <a:solidFill>
                  <a:srgbClr val="262626"/>
                </a:solidFill>
                <a:latin typeface="Arial"/>
              </a:defRPr>
            </a:pPr>
            <a:r>
              <a:t>1.0  Manage Customer Account</a:t>
            </a:r>
          </a:p>
        </p:txBody>
      </p:sp>
      <p:sp>
        <p:nvSpPr>
          <p:cNvPr id="3" name="TextBox 2"/>
          <p:cNvSpPr txBox="1"/>
          <p:nvPr/>
        </p:nvSpPr>
        <p:spPr>
          <a:xfrm>
            <a:off x="542925" y="895350"/>
            <a:ext cx="14097000" cy="381000"/>
          </a:xfrm>
          <a:prstGeom prst="rect">
            <a:avLst/>
          </a:prstGeom>
          <a:solidFill>
            <a:srgbClr val="FFFFFF"/>
          </a:solidFill>
        </p:spPr>
        <p:txBody>
          <a:bodyPr wrap="square" lIns="38100" tIns="0" rIns="38100" bIns="0" anchor="ctr">
            <a:spAutoFit/>
          </a:bodyPr>
          <a:lstStyle/>
          <a:p>
            <a:pPr algn="l">
              <a:spcBef>
                <a:spcPts val="0"/>
              </a:spcBef>
              <a:spcAft>
                <a:spcPts val="0"/>
              </a:spcAft>
              <a:defRPr sz="1800" b="0">
                <a:solidFill>
                  <a:srgbClr val="262626"/>
                </a:solidFill>
                <a:latin typeface="Arial"/>
              </a:defRPr>
            </a:pPr>
            <a:r>
              <a:t>CardCollector System · Level 1 data flow diagram</a:t>
            </a:r>
          </a:p>
        </p:txBody>
      </p:sp>
      <p:sp>
        <p:nvSpPr>
          <p:cNvPr id="4" name="Rounded Rectangle 3"/>
          <p:cNvSpPr/>
          <p:nvPr/>
        </p:nvSpPr>
        <p:spPr>
          <a:xfrm>
            <a:off x="6096000" y="2000250"/>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6096000" y="230505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0300" y="202882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1.1</a:t>
            </a:r>
          </a:p>
        </p:txBody>
      </p:sp>
      <p:sp>
        <p:nvSpPr>
          <p:cNvPr id="7" name="TextBox 6"/>
          <p:cNvSpPr txBox="1"/>
          <p:nvPr/>
        </p:nvSpPr>
        <p:spPr>
          <a:xfrm>
            <a:off x="6191250" y="2362200"/>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Validate Account</a:t>
            </a:r>
          </a:p>
          <a:p>
            <a:pPr algn="ctr">
              <a:spcBef>
                <a:spcPts val="0"/>
              </a:spcBef>
              <a:spcAft>
                <a:spcPts val="0"/>
              </a:spcAft>
              <a:defRPr sz="1800" b="0">
                <a:solidFill>
                  <a:srgbClr val="262626"/>
                </a:solidFill>
                <a:latin typeface="Arial"/>
              </a:defRPr>
            </a:pPr>
            <a:r>
              <a:t>Data</a:t>
            </a:r>
          </a:p>
        </p:txBody>
      </p:sp>
      <p:sp>
        <p:nvSpPr>
          <p:cNvPr id="8" name="Rounded Rectangle 7"/>
          <p:cNvSpPr/>
          <p:nvPr/>
        </p:nvSpPr>
        <p:spPr>
          <a:xfrm>
            <a:off x="6096000" y="4143375"/>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6096000" y="4448175"/>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10300" y="4171950"/>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1.2</a:t>
            </a:r>
          </a:p>
        </p:txBody>
      </p:sp>
      <p:sp>
        <p:nvSpPr>
          <p:cNvPr id="11" name="TextBox 10"/>
          <p:cNvSpPr txBox="1"/>
          <p:nvPr/>
        </p:nvSpPr>
        <p:spPr>
          <a:xfrm>
            <a:off x="6191250" y="4505325"/>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Apply Account</a:t>
            </a:r>
          </a:p>
          <a:p>
            <a:pPr algn="ctr">
              <a:spcBef>
                <a:spcPts val="0"/>
              </a:spcBef>
              <a:spcAft>
                <a:spcPts val="0"/>
              </a:spcAft>
              <a:defRPr sz="1800" b="0">
                <a:solidFill>
                  <a:srgbClr val="262626"/>
                </a:solidFill>
                <a:latin typeface="Arial"/>
              </a:defRPr>
            </a:pPr>
            <a:r>
              <a:t>Changes</a:t>
            </a:r>
          </a:p>
        </p:txBody>
      </p:sp>
      <p:sp>
        <p:nvSpPr>
          <p:cNvPr id="12" name="Rounded Rectangle 11"/>
          <p:cNvSpPr/>
          <p:nvPr/>
        </p:nvSpPr>
        <p:spPr>
          <a:xfrm>
            <a:off x="6096000" y="6286500"/>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6096000" y="659130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10300" y="631507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1.3</a:t>
            </a:r>
          </a:p>
        </p:txBody>
      </p:sp>
      <p:sp>
        <p:nvSpPr>
          <p:cNvPr id="15" name="TextBox 14"/>
          <p:cNvSpPr txBox="1"/>
          <p:nvPr/>
        </p:nvSpPr>
        <p:spPr>
          <a:xfrm>
            <a:off x="6191250" y="6648450"/>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Prepare Account</a:t>
            </a:r>
          </a:p>
          <a:p>
            <a:pPr algn="ctr">
              <a:spcBef>
                <a:spcPts val="0"/>
              </a:spcBef>
              <a:spcAft>
                <a:spcPts val="0"/>
              </a:spcAft>
              <a:defRPr sz="1800" b="0">
                <a:solidFill>
                  <a:srgbClr val="262626"/>
                </a:solidFill>
                <a:latin typeface="Arial"/>
              </a:defRPr>
            </a:pPr>
            <a:r>
              <a:t>Response</a:t>
            </a:r>
          </a:p>
        </p:txBody>
      </p:sp>
      <p:sp>
        <p:nvSpPr>
          <p:cNvPr id="16" name="TextBox 15"/>
          <p:cNvSpPr txBox="1"/>
          <p:nvPr/>
        </p:nvSpPr>
        <p:spPr>
          <a:xfrm>
            <a:off x="542925" y="8029575"/>
            <a:ext cx="14144625" cy="323850"/>
          </a:xfrm>
          <a:prstGeom prst="rect">
            <a:avLst/>
          </a:prstGeom>
          <a:solidFill>
            <a:srgbClr val="FFFFFF"/>
          </a:solidFill>
        </p:spPr>
        <p:txBody>
          <a:bodyPr wrap="square" lIns="38100" tIns="0" rIns="38100" bIns="0" anchor="ctr">
            <a:spAutoFit/>
          </a:bodyPr>
          <a:lstStyle/>
          <a:p>
            <a:pPr algn="l">
              <a:spcBef>
                <a:spcPts val="0"/>
              </a:spcBef>
              <a:spcAft>
                <a:spcPts val="0"/>
              </a:spcAft>
              <a:defRPr sz="1425" b="0">
                <a:solidFill>
                  <a:srgbClr val="262626"/>
                </a:solidFill>
                <a:latin typeface="Arial"/>
              </a:defRPr>
            </a:pPr>
            <a:r>
              <a:t>Subprocess numbers identify logical functions. Arrows represent data flows.</a:t>
            </a:r>
          </a:p>
        </p:txBody>
      </p:sp>
      <p:sp>
        <p:nvSpPr>
          <p:cNvPr id="17" name="Rectangle 16"/>
          <p:cNvSpPr/>
          <p:nvPr/>
        </p:nvSpPr>
        <p:spPr>
          <a:xfrm>
            <a:off x="619125" y="4143375"/>
            <a:ext cx="2190750" cy="904875"/>
          </a:xfrm>
          <a:prstGeom prst="rect">
            <a:avLst/>
          </a:prstGeom>
          <a:solidFill>
            <a:srgbClr val="FFFFFF"/>
          </a:solidFill>
          <a:ln w="1524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5325" y="4191000"/>
            <a:ext cx="2038350" cy="809625"/>
          </a:xfrm>
          <a:prstGeom prst="rect">
            <a:avLst/>
          </a:prstGeom>
          <a:noFill/>
        </p:spPr>
        <p:txBody>
          <a:bodyPr wrap="square" lIns="38100" tIns="0" rIns="38100" bIns="0" anchor="ctr">
            <a:spAutoFit/>
          </a:bodyPr>
          <a:lstStyle/>
          <a:p>
            <a:pPr algn="ctr">
              <a:spcBef>
                <a:spcPts val="0"/>
              </a:spcBef>
              <a:spcAft>
                <a:spcPts val="0"/>
              </a:spcAft>
              <a:defRPr sz="1875" b="0">
                <a:solidFill>
                  <a:srgbClr val="262626"/>
                </a:solidFill>
                <a:latin typeface="Arial"/>
              </a:defRPr>
            </a:pPr>
            <a:r>
              <a:t>Customers</a:t>
            </a:r>
          </a:p>
        </p:txBody>
      </p:sp>
      <p:cxnSp>
        <p:nvCxnSpPr>
          <p:cNvPr id="19" name="Connector 18"/>
          <p:cNvCxnSpPr/>
          <p:nvPr/>
        </p:nvCxnSpPr>
        <p:spPr>
          <a:xfrm>
            <a:off x="11239500" y="233362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239500" y="273367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687175" y="2333625"/>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1258550" y="2352675"/>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D1</a:t>
            </a:r>
          </a:p>
        </p:txBody>
      </p:sp>
      <p:sp>
        <p:nvSpPr>
          <p:cNvPr id="23" name="TextBox 22"/>
          <p:cNvSpPr txBox="1"/>
          <p:nvPr/>
        </p:nvSpPr>
        <p:spPr>
          <a:xfrm>
            <a:off x="11725275" y="2352675"/>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Customers</a:t>
            </a:r>
          </a:p>
        </p:txBody>
      </p:sp>
      <p:cxnSp>
        <p:nvCxnSpPr>
          <p:cNvPr id="24" name="Connector 23"/>
          <p:cNvCxnSpPr/>
          <p:nvPr/>
        </p:nvCxnSpPr>
        <p:spPr>
          <a:xfrm>
            <a:off x="11239500" y="44767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1239500" y="48768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687175" y="447675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1258550" y="449580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D1</a:t>
            </a:r>
          </a:p>
        </p:txBody>
      </p:sp>
      <p:sp>
        <p:nvSpPr>
          <p:cNvPr id="28" name="TextBox 27"/>
          <p:cNvSpPr txBox="1"/>
          <p:nvPr/>
        </p:nvSpPr>
        <p:spPr>
          <a:xfrm>
            <a:off x="11725275" y="449580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Customers</a:t>
            </a:r>
          </a:p>
        </p:txBody>
      </p:sp>
      <p:cxnSp>
        <p:nvCxnSpPr>
          <p:cNvPr id="29" name="Connector 28"/>
          <p:cNvCxnSpPr/>
          <p:nvPr/>
        </p:nvCxnSpPr>
        <p:spPr>
          <a:xfrm>
            <a:off x="2809875" y="4381500"/>
            <a:ext cx="1476375"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286250" y="2476500"/>
            <a:ext cx="0" cy="190500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286250" y="2476500"/>
            <a:ext cx="18097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038475" y="2171700"/>
            <a:ext cx="2762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Account data</a:t>
            </a:r>
          </a:p>
        </p:txBody>
      </p:sp>
      <p:cxnSp>
        <p:nvCxnSpPr>
          <p:cNvPr id="33" name="Connector 32"/>
          <p:cNvCxnSpPr/>
          <p:nvPr/>
        </p:nvCxnSpPr>
        <p:spPr>
          <a:xfrm flipH="1">
            <a:off x="8477250" y="2533650"/>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677275" y="2076450"/>
            <a:ext cx="2381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Profile records</a:t>
            </a:r>
          </a:p>
        </p:txBody>
      </p:sp>
      <p:cxnSp>
        <p:nvCxnSpPr>
          <p:cNvPr id="35" name="Connector 34"/>
          <p:cNvCxnSpPr/>
          <p:nvPr/>
        </p:nvCxnSpPr>
        <p:spPr>
          <a:xfrm>
            <a:off x="7286625" y="3048000"/>
            <a:ext cx="0" cy="109537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639050" y="3381375"/>
            <a:ext cx="2905125"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Validated account data</a:t>
            </a:r>
          </a:p>
        </p:txBody>
      </p:sp>
      <p:cxnSp>
        <p:nvCxnSpPr>
          <p:cNvPr id="37" name="Connector 36"/>
          <p:cNvCxnSpPr/>
          <p:nvPr/>
        </p:nvCxnSpPr>
        <p:spPr>
          <a:xfrm>
            <a:off x="8477250" y="4638675"/>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667750" y="4162425"/>
            <a:ext cx="2381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Profile updates</a:t>
            </a:r>
          </a:p>
        </p:txBody>
      </p:sp>
      <p:cxnSp>
        <p:nvCxnSpPr>
          <p:cNvPr id="39" name="Connector 38"/>
          <p:cNvCxnSpPr/>
          <p:nvPr/>
        </p:nvCxnSpPr>
        <p:spPr>
          <a:xfrm>
            <a:off x="7286625" y="5191125"/>
            <a:ext cx="0" cy="109537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639050" y="5467350"/>
            <a:ext cx="2905125"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Account change result</a:t>
            </a:r>
          </a:p>
        </p:txBody>
      </p:sp>
      <p:cxnSp>
        <p:nvCxnSpPr>
          <p:cNvPr id="41" name="Connector 40"/>
          <p:cNvCxnSpPr/>
          <p:nvPr/>
        </p:nvCxnSpPr>
        <p:spPr>
          <a:xfrm flipH="1">
            <a:off x="4000500" y="6791325"/>
            <a:ext cx="209550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00500" y="4791075"/>
            <a:ext cx="0" cy="20002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2809875" y="4791075"/>
            <a:ext cx="1190625"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000375" y="6286500"/>
            <a:ext cx="26860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Account details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3875" y="257175"/>
            <a:ext cx="14144625" cy="571500"/>
          </a:xfrm>
          <a:prstGeom prst="rect">
            <a:avLst/>
          </a:prstGeom>
          <a:solidFill>
            <a:srgbClr val="FFFFFF"/>
          </a:solidFill>
        </p:spPr>
        <p:txBody>
          <a:bodyPr wrap="square" lIns="38100" tIns="0" rIns="38100" bIns="0" anchor="ctr">
            <a:spAutoFit/>
          </a:bodyPr>
          <a:lstStyle/>
          <a:p>
            <a:pPr algn="l">
              <a:spcBef>
                <a:spcPts val="0"/>
              </a:spcBef>
              <a:spcAft>
                <a:spcPts val="0"/>
              </a:spcAft>
              <a:defRPr sz="3000" b="1">
                <a:solidFill>
                  <a:srgbClr val="262626"/>
                </a:solidFill>
                <a:latin typeface="Arial"/>
              </a:defRPr>
            </a:pPr>
            <a:r>
              <a:t>2.0  Maintain Card Catalog</a:t>
            </a:r>
          </a:p>
        </p:txBody>
      </p:sp>
      <p:sp>
        <p:nvSpPr>
          <p:cNvPr id="3" name="TextBox 2"/>
          <p:cNvSpPr txBox="1"/>
          <p:nvPr/>
        </p:nvSpPr>
        <p:spPr>
          <a:xfrm>
            <a:off x="542925" y="895350"/>
            <a:ext cx="14097000" cy="381000"/>
          </a:xfrm>
          <a:prstGeom prst="rect">
            <a:avLst/>
          </a:prstGeom>
          <a:solidFill>
            <a:srgbClr val="FFFFFF"/>
          </a:solidFill>
        </p:spPr>
        <p:txBody>
          <a:bodyPr wrap="square" lIns="38100" tIns="0" rIns="38100" bIns="0" anchor="ctr">
            <a:spAutoFit/>
          </a:bodyPr>
          <a:lstStyle/>
          <a:p>
            <a:pPr algn="l">
              <a:spcBef>
                <a:spcPts val="0"/>
              </a:spcBef>
              <a:spcAft>
                <a:spcPts val="0"/>
              </a:spcAft>
              <a:defRPr sz="1800" b="0">
                <a:solidFill>
                  <a:srgbClr val="262626"/>
                </a:solidFill>
                <a:latin typeface="Arial"/>
              </a:defRPr>
            </a:pPr>
            <a:r>
              <a:t>CardCollector System · Level 1 data flow diagram</a:t>
            </a:r>
          </a:p>
        </p:txBody>
      </p:sp>
      <p:sp>
        <p:nvSpPr>
          <p:cNvPr id="4" name="Rounded Rectangle 3"/>
          <p:cNvSpPr/>
          <p:nvPr/>
        </p:nvSpPr>
        <p:spPr>
          <a:xfrm>
            <a:off x="6096000" y="2000250"/>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6096000" y="230505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0300" y="202882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2.1</a:t>
            </a:r>
          </a:p>
        </p:txBody>
      </p:sp>
      <p:sp>
        <p:nvSpPr>
          <p:cNvPr id="7" name="TextBox 6"/>
          <p:cNvSpPr txBox="1"/>
          <p:nvPr/>
        </p:nvSpPr>
        <p:spPr>
          <a:xfrm>
            <a:off x="6191250" y="2362200"/>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Validate Listing</a:t>
            </a:r>
          </a:p>
          <a:p>
            <a:pPr algn="ctr">
              <a:spcBef>
                <a:spcPts val="0"/>
              </a:spcBef>
              <a:spcAft>
                <a:spcPts val="0"/>
              </a:spcAft>
              <a:defRPr sz="1800" b="0">
                <a:solidFill>
                  <a:srgbClr val="262626"/>
                </a:solidFill>
                <a:latin typeface="Arial"/>
              </a:defRPr>
            </a:pPr>
            <a:r>
              <a:t>Changes</a:t>
            </a:r>
          </a:p>
        </p:txBody>
      </p:sp>
      <p:sp>
        <p:nvSpPr>
          <p:cNvPr id="8" name="Rounded Rectangle 7"/>
          <p:cNvSpPr/>
          <p:nvPr/>
        </p:nvSpPr>
        <p:spPr>
          <a:xfrm>
            <a:off x="6096000" y="4143375"/>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6096000" y="4448175"/>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10300" y="4171950"/>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2.2</a:t>
            </a:r>
          </a:p>
        </p:txBody>
      </p:sp>
      <p:sp>
        <p:nvSpPr>
          <p:cNvPr id="11" name="TextBox 10"/>
          <p:cNvSpPr txBox="1"/>
          <p:nvPr/>
        </p:nvSpPr>
        <p:spPr>
          <a:xfrm>
            <a:off x="6191250" y="4505325"/>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Maintain Catalog</a:t>
            </a:r>
          </a:p>
          <a:p>
            <a:pPr algn="ctr">
              <a:spcBef>
                <a:spcPts val="0"/>
              </a:spcBef>
              <a:spcAft>
                <a:spcPts val="0"/>
              </a:spcAft>
              <a:defRPr sz="1800" b="0">
                <a:solidFill>
                  <a:srgbClr val="262626"/>
                </a:solidFill>
                <a:latin typeface="Arial"/>
              </a:defRPr>
            </a:pPr>
            <a:r>
              <a:t>Entries</a:t>
            </a:r>
          </a:p>
        </p:txBody>
      </p:sp>
      <p:sp>
        <p:nvSpPr>
          <p:cNvPr id="12" name="Rounded Rectangle 11"/>
          <p:cNvSpPr/>
          <p:nvPr/>
        </p:nvSpPr>
        <p:spPr>
          <a:xfrm>
            <a:off x="6096000" y="6286500"/>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6096000" y="659130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10300" y="631507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2.3</a:t>
            </a:r>
          </a:p>
        </p:txBody>
      </p:sp>
      <p:sp>
        <p:nvSpPr>
          <p:cNvPr id="15" name="TextBox 14"/>
          <p:cNvSpPr txBox="1"/>
          <p:nvPr/>
        </p:nvSpPr>
        <p:spPr>
          <a:xfrm>
            <a:off x="6191250" y="6648450"/>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Record Catalog</a:t>
            </a:r>
          </a:p>
          <a:p>
            <a:pPr algn="ctr">
              <a:spcBef>
                <a:spcPts val="0"/>
              </a:spcBef>
              <a:spcAft>
                <a:spcPts val="0"/>
              </a:spcAft>
              <a:defRPr sz="1800" b="0">
                <a:solidFill>
                  <a:srgbClr val="262626"/>
                </a:solidFill>
                <a:latin typeface="Arial"/>
              </a:defRPr>
            </a:pPr>
            <a:r>
              <a:t>Audit</a:t>
            </a:r>
          </a:p>
        </p:txBody>
      </p:sp>
      <p:sp>
        <p:nvSpPr>
          <p:cNvPr id="16" name="TextBox 15"/>
          <p:cNvSpPr txBox="1"/>
          <p:nvPr/>
        </p:nvSpPr>
        <p:spPr>
          <a:xfrm>
            <a:off x="542925" y="8029575"/>
            <a:ext cx="14144625" cy="323850"/>
          </a:xfrm>
          <a:prstGeom prst="rect">
            <a:avLst/>
          </a:prstGeom>
          <a:solidFill>
            <a:srgbClr val="FFFFFF"/>
          </a:solidFill>
        </p:spPr>
        <p:txBody>
          <a:bodyPr wrap="square" lIns="38100" tIns="0" rIns="38100" bIns="0" anchor="ctr">
            <a:spAutoFit/>
          </a:bodyPr>
          <a:lstStyle/>
          <a:p>
            <a:pPr algn="l">
              <a:spcBef>
                <a:spcPts val="0"/>
              </a:spcBef>
              <a:spcAft>
                <a:spcPts val="0"/>
              </a:spcAft>
              <a:defRPr sz="1425" b="0">
                <a:solidFill>
                  <a:srgbClr val="262626"/>
                </a:solidFill>
                <a:latin typeface="Arial"/>
              </a:defRPr>
            </a:pPr>
            <a:r>
              <a:t>Subprocess numbers identify logical functions. Arrows represent data flows.</a:t>
            </a:r>
          </a:p>
        </p:txBody>
      </p:sp>
      <p:sp>
        <p:nvSpPr>
          <p:cNvPr id="17" name="Rectangle 16"/>
          <p:cNvSpPr/>
          <p:nvPr/>
        </p:nvSpPr>
        <p:spPr>
          <a:xfrm>
            <a:off x="619125" y="2095500"/>
            <a:ext cx="2190750" cy="904875"/>
          </a:xfrm>
          <a:prstGeom prst="rect">
            <a:avLst/>
          </a:prstGeom>
          <a:solidFill>
            <a:srgbClr val="FFFFFF"/>
          </a:solidFill>
          <a:ln w="1524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5325" y="2143125"/>
            <a:ext cx="2038350" cy="809625"/>
          </a:xfrm>
          <a:prstGeom prst="rect">
            <a:avLst/>
          </a:prstGeom>
          <a:noFill/>
        </p:spPr>
        <p:txBody>
          <a:bodyPr wrap="square" lIns="38100" tIns="0" rIns="38100" bIns="0" anchor="ctr">
            <a:spAutoFit/>
          </a:bodyPr>
          <a:lstStyle/>
          <a:p>
            <a:pPr algn="ctr">
              <a:spcBef>
                <a:spcPts val="0"/>
              </a:spcBef>
              <a:spcAft>
                <a:spcPts val="0"/>
              </a:spcAft>
              <a:defRPr sz="1875" b="0">
                <a:solidFill>
                  <a:srgbClr val="262626"/>
                </a:solidFill>
                <a:latin typeface="Arial"/>
              </a:defRPr>
            </a:pPr>
            <a:r>
              <a:t>Administrators</a:t>
            </a:r>
          </a:p>
        </p:txBody>
      </p:sp>
      <p:cxnSp>
        <p:nvCxnSpPr>
          <p:cNvPr id="19" name="Connector 18"/>
          <p:cNvCxnSpPr/>
          <p:nvPr/>
        </p:nvCxnSpPr>
        <p:spPr>
          <a:xfrm>
            <a:off x="11239500" y="44767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239500" y="48768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687175" y="447675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1258550" y="449580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D2</a:t>
            </a:r>
          </a:p>
        </p:txBody>
      </p:sp>
      <p:sp>
        <p:nvSpPr>
          <p:cNvPr id="23" name="TextBox 22"/>
          <p:cNvSpPr txBox="1"/>
          <p:nvPr/>
        </p:nvSpPr>
        <p:spPr>
          <a:xfrm>
            <a:off x="11725275" y="449580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Card catalog</a:t>
            </a:r>
          </a:p>
        </p:txBody>
      </p:sp>
      <p:cxnSp>
        <p:nvCxnSpPr>
          <p:cNvPr id="24" name="Connector 23"/>
          <p:cNvCxnSpPr/>
          <p:nvPr/>
        </p:nvCxnSpPr>
        <p:spPr>
          <a:xfrm>
            <a:off x="11239500" y="661987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1239500" y="701992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687175" y="6619875"/>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1258550" y="6638925"/>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D9</a:t>
            </a:r>
          </a:p>
        </p:txBody>
      </p:sp>
      <p:sp>
        <p:nvSpPr>
          <p:cNvPr id="28" name="TextBox 27"/>
          <p:cNvSpPr txBox="1"/>
          <p:nvPr/>
        </p:nvSpPr>
        <p:spPr>
          <a:xfrm>
            <a:off x="11725275" y="6638925"/>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Audit log</a:t>
            </a:r>
          </a:p>
        </p:txBody>
      </p:sp>
      <p:cxnSp>
        <p:nvCxnSpPr>
          <p:cNvPr id="29" name="Connector 28"/>
          <p:cNvCxnSpPr/>
          <p:nvPr/>
        </p:nvCxnSpPr>
        <p:spPr>
          <a:xfrm>
            <a:off x="2809875" y="2533650"/>
            <a:ext cx="3286125"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057525" y="2009775"/>
            <a:ext cx="2714625"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Listing / price updates</a:t>
            </a:r>
          </a:p>
        </p:txBody>
      </p:sp>
      <p:cxnSp>
        <p:nvCxnSpPr>
          <p:cNvPr id="31" name="Connector 30"/>
          <p:cNvCxnSpPr/>
          <p:nvPr/>
        </p:nvCxnSpPr>
        <p:spPr>
          <a:xfrm>
            <a:off x="7286625" y="3048000"/>
            <a:ext cx="0" cy="109537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639050" y="3381375"/>
            <a:ext cx="2905125"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Validated listing changes</a:t>
            </a:r>
          </a:p>
        </p:txBody>
      </p:sp>
      <p:cxnSp>
        <p:nvCxnSpPr>
          <p:cNvPr id="33" name="Connector 32"/>
          <p:cNvCxnSpPr/>
          <p:nvPr/>
        </p:nvCxnSpPr>
        <p:spPr>
          <a:xfrm>
            <a:off x="8477250" y="4629150"/>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677275" y="4143375"/>
            <a:ext cx="2381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Catalog changes</a:t>
            </a:r>
          </a:p>
        </p:txBody>
      </p:sp>
      <p:cxnSp>
        <p:nvCxnSpPr>
          <p:cNvPr id="35" name="Connector 34"/>
          <p:cNvCxnSpPr/>
          <p:nvPr/>
        </p:nvCxnSpPr>
        <p:spPr>
          <a:xfrm>
            <a:off x="7286625" y="5191125"/>
            <a:ext cx="0" cy="109537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639050" y="5467350"/>
            <a:ext cx="2905125"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Catalog change record</a:t>
            </a:r>
          </a:p>
        </p:txBody>
      </p:sp>
      <p:cxnSp>
        <p:nvCxnSpPr>
          <p:cNvPr id="37" name="Connector 36"/>
          <p:cNvCxnSpPr/>
          <p:nvPr/>
        </p:nvCxnSpPr>
        <p:spPr>
          <a:xfrm>
            <a:off x="8477250" y="6781800"/>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677275" y="6276975"/>
            <a:ext cx="2381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Audit entries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3875" y="257175"/>
            <a:ext cx="14144625" cy="571500"/>
          </a:xfrm>
          <a:prstGeom prst="rect">
            <a:avLst/>
          </a:prstGeom>
          <a:solidFill>
            <a:srgbClr val="FFFFFF"/>
          </a:solidFill>
        </p:spPr>
        <p:txBody>
          <a:bodyPr wrap="square" lIns="38100" tIns="0" rIns="38100" bIns="0" anchor="ctr">
            <a:spAutoFit/>
          </a:bodyPr>
          <a:lstStyle/>
          <a:p>
            <a:pPr algn="l">
              <a:spcBef>
                <a:spcPts val="0"/>
              </a:spcBef>
              <a:spcAft>
                <a:spcPts val="0"/>
              </a:spcAft>
              <a:defRPr sz="3000" b="1">
                <a:solidFill>
                  <a:srgbClr val="262626"/>
                </a:solidFill>
                <a:latin typeface="Arial"/>
              </a:defRPr>
            </a:pPr>
            <a:r>
              <a:t>3.0  Search and Browse Cards</a:t>
            </a:r>
          </a:p>
        </p:txBody>
      </p:sp>
      <p:sp>
        <p:nvSpPr>
          <p:cNvPr id="3" name="TextBox 2"/>
          <p:cNvSpPr txBox="1"/>
          <p:nvPr/>
        </p:nvSpPr>
        <p:spPr>
          <a:xfrm>
            <a:off x="542925" y="895350"/>
            <a:ext cx="14097000" cy="381000"/>
          </a:xfrm>
          <a:prstGeom prst="rect">
            <a:avLst/>
          </a:prstGeom>
          <a:solidFill>
            <a:srgbClr val="FFFFFF"/>
          </a:solidFill>
        </p:spPr>
        <p:txBody>
          <a:bodyPr wrap="square" lIns="38100" tIns="0" rIns="38100" bIns="0" anchor="ctr">
            <a:spAutoFit/>
          </a:bodyPr>
          <a:lstStyle/>
          <a:p>
            <a:pPr algn="l">
              <a:spcBef>
                <a:spcPts val="0"/>
              </a:spcBef>
              <a:spcAft>
                <a:spcPts val="0"/>
              </a:spcAft>
              <a:defRPr sz="1800" b="0">
                <a:solidFill>
                  <a:srgbClr val="262626"/>
                </a:solidFill>
                <a:latin typeface="Arial"/>
              </a:defRPr>
            </a:pPr>
            <a:r>
              <a:t>CardCollector System · Level 1 data flow diagram</a:t>
            </a:r>
          </a:p>
        </p:txBody>
      </p:sp>
      <p:sp>
        <p:nvSpPr>
          <p:cNvPr id="4" name="Rounded Rectangle 3"/>
          <p:cNvSpPr/>
          <p:nvPr/>
        </p:nvSpPr>
        <p:spPr>
          <a:xfrm>
            <a:off x="6096000" y="2000250"/>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6096000" y="230505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0300" y="202882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3.1</a:t>
            </a:r>
          </a:p>
        </p:txBody>
      </p:sp>
      <p:sp>
        <p:nvSpPr>
          <p:cNvPr id="7" name="TextBox 6"/>
          <p:cNvSpPr txBox="1"/>
          <p:nvPr/>
        </p:nvSpPr>
        <p:spPr>
          <a:xfrm>
            <a:off x="6191250" y="2362200"/>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Interpret Search</a:t>
            </a:r>
          </a:p>
          <a:p>
            <a:pPr algn="ctr">
              <a:spcBef>
                <a:spcPts val="0"/>
              </a:spcBef>
              <a:spcAft>
                <a:spcPts val="0"/>
              </a:spcAft>
              <a:defRPr sz="1800" b="0">
                <a:solidFill>
                  <a:srgbClr val="262626"/>
                </a:solidFill>
                <a:latin typeface="Arial"/>
              </a:defRPr>
            </a:pPr>
            <a:r>
              <a:t>Criteria</a:t>
            </a:r>
          </a:p>
        </p:txBody>
      </p:sp>
      <p:sp>
        <p:nvSpPr>
          <p:cNvPr id="8" name="Rounded Rectangle 7"/>
          <p:cNvSpPr/>
          <p:nvPr/>
        </p:nvSpPr>
        <p:spPr>
          <a:xfrm>
            <a:off x="6096000" y="4143375"/>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6096000" y="4448175"/>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10300" y="4171950"/>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3.2</a:t>
            </a:r>
          </a:p>
        </p:txBody>
      </p:sp>
      <p:sp>
        <p:nvSpPr>
          <p:cNvPr id="11" name="TextBox 10"/>
          <p:cNvSpPr txBox="1"/>
          <p:nvPr/>
        </p:nvSpPr>
        <p:spPr>
          <a:xfrm>
            <a:off x="6191250" y="4505325"/>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Match Cards and</a:t>
            </a:r>
          </a:p>
          <a:p>
            <a:pPr algn="ctr">
              <a:spcBef>
                <a:spcPts val="0"/>
              </a:spcBef>
              <a:spcAft>
                <a:spcPts val="0"/>
              </a:spcAft>
              <a:defRPr sz="1800" b="0">
                <a:solidFill>
                  <a:srgbClr val="262626"/>
                </a:solidFill>
                <a:latin typeface="Arial"/>
              </a:defRPr>
            </a:pPr>
            <a:r>
              <a:t>Availability</a:t>
            </a:r>
          </a:p>
        </p:txBody>
      </p:sp>
      <p:sp>
        <p:nvSpPr>
          <p:cNvPr id="12" name="Rounded Rectangle 11"/>
          <p:cNvSpPr/>
          <p:nvPr/>
        </p:nvSpPr>
        <p:spPr>
          <a:xfrm>
            <a:off x="6096000" y="6286500"/>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6096000" y="659130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10300" y="631507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3.3</a:t>
            </a:r>
          </a:p>
        </p:txBody>
      </p:sp>
      <p:sp>
        <p:nvSpPr>
          <p:cNvPr id="15" name="TextBox 14"/>
          <p:cNvSpPr txBox="1"/>
          <p:nvPr/>
        </p:nvSpPr>
        <p:spPr>
          <a:xfrm>
            <a:off x="6191250" y="6648450"/>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Present Search</a:t>
            </a:r>
          </a:p>
          <a:p>
            <a:pPr algn="ctr">
              <a:spcBef>
                <a:spcPts val="0"/>
              </a:spcBef>
              <a:spcAft>
                <a:spcPts val="0"/>
              </a:spcAft>
              <a:defRPr sz="1800" b="0">
                <a:solidFill>
                  <a:srgbClr val="262626"/>
                </a:solidFill>
                <a:latin typeface="Arial"/>
              </a:defRPr>
            </a:pPr>
            <a:r>
              <a:t>Results</a:t>
            </a:r>
          </a:p>
        </p:txBody>
      </p:sp>
      <p:sp>
        <p:nvSpPr>
          <p:cNvPr id="16" name="TextBox 15"/>
          <p:cNvSpPr txBox="1"/>
          <p:nvPr/>
        </p:nvSpPr>
        <p:spPr>
          <a:xfrm>
            <a:off x="542925" y="8029575"/>
            <a:ext cx="14144625" cy="323850"/>
          </a:xfrm>
          <a:prstGeom prst="rect">
            <a:avLst/>
          </a:prstGeom>
          <a:solidFill>
            <a:srgbClr val="FFFFFF"/>
          </a:solidFill>
        </p:spPr>
        <p:txBody>
          <a:bodyPr wrap="square" lIns="38100" tIns="0" rIns="38100" bIns="0" anchor="ctr">
            <a:spAutoFit/>
          </a:bodyPr>
          <a:lstStyle/>
          <a:p>
            <a:pPr algn="l">
              <a:spcBef>
                <a:spcPts val="0"/>
              </a:spcBef>
              <a:spcAft>
                <a:spcPts val="0"/>
              </a:spcAft>
              <a:defRPr sz="1425" b="0">
                <a:solidFill>
                  <a:srgbClr val="262626"/>
                </a:solidFill>
                <a:latin typeface="Arial"/>
              </a:defRPr>
            </a:pPr>
            <a:r>
              <a:t>Subprocess numbers identify logical functions. Arrows represent data flows.</a:t>
            </a:r>
          </a:p>
        </p:txBody>
      </p:sp>
      <p:sp>
        <p:nvSpPr>
          <p:cNvPr id="17" name="Rectangle 16"/>
          <p:cNvSpPr/>
          <p:nvPr/>
        </p:nvSpPr>
        <p:spPr>
          <a:xfrm>
            <a:off x="619125" y="4143375"/>
            <a:ext cx="2190750" cy="904875"/>
          </a:xfrm>
          <a:prstGeom prst="rect">
            <a:avLst/>
          </a:prstGeom>
          <a:solidFill>
            <a:srgbClr val="FFFFFF"/>
          </a:solidFill>
          <a:ln w="1524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5325" y="4191000"/>
            <a:ext cx="2038350" cy="809625"/>
          </a:xfrm>
          <a:prstGeom prst="rect">
            <a:avLst/>
          </a:prstGeom>
          <a:noFill/>
        </p:spPr>
        <p:txBody>
          <a:bodyPr wrap="square" lIns="38100" tIns="0" rIns="38100" bIns="0" anchor="ctr">
            <a:spAutoFit/>
          </a:bodyPr>
          <a:lstStyle/>
          <a:p>
            <a:pPr algn="ctr">
              <a:spcBef>
                <a:spcPts val="0"/>
              </a:spcBef>
              <a:spcAft>
                <a:spcPts val="0"/>
              </a:spcAft>
              <a:defRPr sz="1875" b="0">
                <a:solidFill>
                  <a:srgbClr val="262626"/>
                </a:solidFill>
                <a:latin typeface="Arial"/>
              </a:defRPr>
            </a:pPr>
            <a:r>
              <a:t>Customers</a:t>
            </a:r>
          </a:p>
        </p:txBody>
      </p:sp>
      <p:cxnSp>
        <p:nvCxnSpPr>
          <p:cNvPr id="19" name="Connector 18"/>
          <p:cNvCxnSpPr/>
          <p:nvPr/>
        </p:nvCxnSpPr>
        <p:spPr>
          <a:xfrm>
            <a:off x="11239500" y="35242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239500" y="39243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687175" y="352425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1258550" y="354330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D2</a:t>
            </a:r>
          </a:p>
        </p:txBody>
      </p:sp>
      <p:sp>
        <p:nvSpPr>
          <p:cNvPr id="23" name="TextBox 22"/>
          <p:cNvSpPr txBox="1"/>
          <p:nvPr/>
        </p:nvSpPr>
        <p:spPr>
          <a:xfrm>
            <a:off x="11725275" y="354330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Card catalog</a:t>
            </a:r>
          </a:p>
        </p:txBody>
      </p:sp>
      <p:cxnSp>
        <p:nvCxnSpPr>
          <p:cNvPr id="24" name="Connector 23"/>
          <p:cNvCxnSpPr/>
          <p:nvPr/>
        </p:nvCxnSpPr>
        <p:spPr>
          <a:xfrm>
            <a:off x="11239500" y="52387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1239500" y="56388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687175" y="523875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1258550" y="525780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D3</a:t>
            </a:r>
          </a:p>
        </p:txBody>
      </p:sp>
      <p:sp>
        <p:nvSpPr>
          <p:cNvPr id="28" name="TextBox 27"/>
          <p:cNvSpPr txBox="1"/>
          <p:nvPr/>
        </p:nvSpPr>
        <p:spPr>
          <a:xfrm>
            <a:off x="11725275" y="525780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Inventory</a:t>
            </a:r>
          </a:p>
        </p:txBody>
      </p:sp>
      <p:cxnSp>
        <p:nvCxnSpPr>
          <p:cNvPr id="29" name="Connector 28"/>
          <p:cNvCxnSpPr/>
          <p:nvPr/>
        </p:nvCxnSpPr>
        <p:spPr>
          <a:xfrm>
            <a:off x="2809875" y="4362450"/>
            <a:ext cx="152400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333875" y="2505075"/>
            <a:ext cx="0" cy="1857375"/>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333875" y="2505075"/>
            <a:ext cx="1762125"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038475" y="2152650"/>
            <a:ext cx="2762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Search criteria</a:t>
            </a:r>
          </a:p>
        </p:txBody>
      </p:sp>
      <p:cxnSp>
        <p:nvCxnSpPr>
          <p:cNvPr id="33" name="Connector 32"/>
          <p:cNvCxnSpPr/>
          <p:nvPr/>
        </p:nvCxnSpPr>
        <p:spPr>
          <a:xfrm>
            <a:off x="7286625" y="3048000"/>
            <a:ext cx="0" cy="109537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639050" y="3276600"/>
            <a:ext cx="2714625"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Validated search filters</a:t>
            </a:r>
          </a:p>
        </p:txBody>
      </p:sp>
      <p:cxnSp>
        <p:nvCxnSpPr>
          <p:cNvPr id="35" name="Connector 34"/>
          <p:cNvCxnSpPr/>
          <p:nvPr/>
        </p:nvCxnSpPr>
        <p:spPr>
          <a:xfrm flipH="1">
            <a:off x="9667875" y="3724275"/>
            <a:ext cx="1571625"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667875" y="3724275"/>
            <a:ext cx="0" cy="72390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8477250" y="4448175"/>
            <a:ext cx="1190625"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429750" y="3838575"/>
            <a:ext cx="1666875" cy="333375"/>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Card details</a:t>
            </a:r>
          </a:p>
        </p:txBody>
      </p:sp>
      <p:cxnSp>
        <p:nvCxnSpPr>
          <p:cNvPr id="39" name="Connector 38"/>
          <p:cNvCxnSpPr/>
          <p:nvPr/>
        </p:nvCxnSpPr>
        <p:spPr>
          <a:xfrm flipH="1">
            <a:off x="9667875" y="5438775"/>
            <a:ext cx="1571625"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9667875" y="4857750"/>
            <a:ext cx="0" cy="581025"/>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8477250" y="4857750"/>
            <a:ext cx="1190625"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429750" y="5038725"/>
            <a:ext cx="1666875" cy="333375"/>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Availability</a:t>
            </a:r>
          </a:p>
        </p:txBody>
      </p:sp>
      <p:cxnSp>
        <p:nvCxnSpPr>
          <p:cNvPr id="43" name="Connector 42"/>
          <p:cNvCxnSpPr/>
          <p:nvPr/>
        </p:nvCxnSpPr>
        <p:spPr>
          <a:xfrm>
            <a:off x="7286625" y="5191125"/>
            <a:ext cx="0" cy="109537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639050" y="5619750"/>
            <a:ext cx="2600325"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Matching listings</a:t>
            </a:r>
          </a:p>
        </p:txBody>
      </p:sp>
      <p:cxnSp>
        <p:nvCxnSpPr>
          <p:cNvPr id="45" name="Connector 44"/>
          <p:cNvCxnSpPr/>
          <p:nvPr/>
        </p:nvCxnSpPr>
        <p:spPr>
          <a:xfrm flipH="1">
            <a:off x="4143375" y="6791325"/>
            <a:ext cx="1952625"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143375" y="4810125"/>
            <a:ext cx="0" cy="198120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2809875" y="4810125"/>
            <a:ext cx="133350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124200" y="6315075"/>
            <a:ext cx="24574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Results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3875" y="257175"/>
            <a:ext cx="14144625" cy="571500"/>
          </a:xfrm>
          <a:prstGeom prst="rect">
            <a:avLst/>
          </a:prstGeom>
          <a:solidFill>
            <a:srgbClr val="FFFFFF"/>
          </a:solidFill>
        </p:spPr>
        <p:txBody>
          <a:bodyPr wrap="square" lIns="38100" tIns="0" rIns="38100" bIns="0" anchor="ctr">
            <a:spAutoFit/>
          </a:bodyPr>
          <a:lstStyle/>
          <a:p>
            <a:pPr algn="l">
              <a:spcBef>
                <a:spcPts val="0"/>
              </a:spcBef>
              <a:spcAft>
                <a:spcPts val="0"/>
              </a:spcAft>
              <a:defRPr sz="3000" b="1">
                <a:solidFill>
                  <a:srgbClr val="262626"/>
                </a:solidFill>
                <a:latin typeface="Arial"/>
              </a:defRPr>
            </a:pPr>
            <a:r>
              <a:t>4.0  Manage Shopping Cart</a:t>
            </a:r>
          </a:p>
        </p:txBody>
      </p:sp>
      <p:sp>
        <p:nvSpPr>
          <p:cNvPr id="3" name="TextBox 2"/>
          <p:cNvSpPr txBox="1"/>
          <p:nvPr/>
        </p:nvSpPr>
        <p:spPr>
          <a:xfrm>
            <a:off x="542925" y="895350"/>
            <a:ext cx="14097000" cy="381000"/>
          </a:xfrm>
          <a:prstGeom prst="rect">
            <a:avLst/>
          </a:prstGeom>
          <a:solidFill>
            <a:srgbClr val="FFFFFF"/>
          </a:solidFill>
        </p:spPr>
        <p:txBody>
          <a:bodyPr wrap="square" lIns="38100" tIns="0" rIns="38100" bIns="0" anchor="ctr">
            <a:spAutoFit/>
          </a:bodyPr>
          <a:lstStyle/>
          <a:p>
            <a:pPr algn="l">
              <a:spcBef>
                <a:spcPts val="0"/>
              </a:spcBef>
              <a:spcAft>
                <a:spcPts val="0"/>
              </a:spcAft>
              <a:defRPr sz="1800" b="0">
                <a:solidFill>
                  <a:srgbClr val="262626"/>
                </a:solidFill>
                <a:latin typeface="Arial"/>
              </a:defRPr>
            </a:pPr>
            <a:r>
              <a:t>CardCollector System · Level 1 data flow diagram</a:t>
            </a:r>
          </a:p>
        </p:txBody>
      </p:sp>
      <p:sp>
        <p:nvSpPr>
          <p:cNvPr id="4" name="Rounded Rectangle 3"/>
          <p:cNvSpPr/>
          <p:nvPr/>
        </p:nvSpPr>
        <p:spPr>
          <a:xfrm>
            <a:off x="6096000" y="2000250"/>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6096000" y="230505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0300" y="202882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4.1</a:t>
            </a:r>
          </a:p>
        </p:txBody>
      </p:sp>
      <p:sp>
        <p:nvSpPr>
          <p:cNvPr id="7" name="TextBox 6"/>
          <p:cNvSpPr txBox="1"/>
          <p:nvPr/>
        </p:nvSpPr>
        <p:spPr>
          <a:xfrm>
            <a:off x="6191250" y="2362200"/>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Interpret Cart</a:t>
            </a:r>
          </a:p>
          <a:p>
            <a:pPr algn="ctr">
              <a:spcBef>
                <a:spcPts val="0"/>
              </a:spcBef>
              <a:spcAft>
                <a:spcPts val="0"/>
              </a:spcAft>
              <a:defRPr sz="1800" b="0">
                <a:solidFill>
                  <a:srgbClr val="262626"/>
                </a:solidFill>
                <a:latin typeface="Arial"/>
              </a:defRPr>
            </a:pPr>
            <a:r>
              <a:t>Changes</a:t>
            </a:r>
          </a:p>
        </p:txBody>
      </p:sp>
      <p:sp>
        <p:nvSpPr>
          <p:cNvPr id="8" name="Rounded Rectangle 7"/>
          <p:cNvSpPr/>
          <p:nvPr/>
        </p:nvSpPr>
        <p:spPr>
          <a:xfrm>
            <a:off x="6096000" y="4143375"/>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6096000" y="4448175"/>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10300" y="4171950"/>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4.2</a:t>
            </a:r>
          </a:p>
        </p:txBody>
      </p:sp>
      <p:sp>
        <p:nvSpPr>
          <p:cNvPr id="11" name="TextBox 10"/>
          <p:cNvSpPr txBox="1"/>
          <p:nvPr/>
        </p:nvSpPr>
        <p:spPr>
          <a:xfrm>
            <a:off x="6191250" y="4505325"/>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Update Cart</a:t>
            </a:r>
          </a:p>
          <a:p>
            <a:pPr algn="ctr">
              <a:spcBef>
                <a:spcPts val="0"/>
              </a:spcBef>
              <a:spcAft>
                <a:spcPts val="0"/>
              </a:spcAft>
              <a:defRPr sz="1800" b="0">
                <a:solidFill>
                  <a:srgbClr val="262626"/>
                </a:solidFill>
                <a:latin typeface="Arial"/>
              </a:defRPr>
            </a:pPr>
            <a:r>
              <a:t>Contents</a:t>
            </a:r>
          </a:p>
        </p:txBody>
      </p:sp>
      <p:sp>
        <p:nvSpPr>
          <p:cNvPr id="12" name="Rounded Rectangle 11"/>
          <p:cNvSpPr/>
          <p:nvPr/>
        </p:nvSpPr>
        <p:spPr>
          <a:xfrm>
            <a:off x="6096000" y="6286500"/>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6096000" y="659130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10300" y="631507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4.3</a:t>
            </a:r>
          </a:p>
        </p:txBody>
      </p:sp>
      <p:sp>
        <p:nvSpPr>
          <p:cNvPr id="15" name="TextBox 14"/>
          <p:cNvSpPr txBox="1"/>
          <p:nvPr/>
        </p:nvSpPr>
        <p:spPr>
          <a:xfrm>
            <a:off x="6191250" y="6648450"/>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Calculate Cart</a:t>
            </a:r>
          </a:p>
          <a:p>
            <a:pPr algn="ctr">
              <a:spcBef>
                <a:spcPts val="0"/>
              </a:spcBef>
              <a:spcAft>
                <a:spcPts val="0"/>
              </a:spcAft>
              <a:defRPr sz="1800" b="0">
                <a:solidFill>
                  <a:srgbClr val="262626"/>
                </a:solidFill>
                <a:latin typeface="Arial"/>
              </a:defRPr>
            </a:pPr>
            <a:r>
              <a:t>Summary</a:t>
            </a:r>
          </a:p>
        </p:txBody>
      </p:sp>
      <p:sp>
        <p:nvSpPr>
          <p:cNvPr id="16" name="TextBox 15"/>
          <p:cNvSpPr txBox="1"/>
          <p:nvPr/>
        </p:nvSpPr>
        <p:spPr>
          <a:xfrm>
            <a:off x="542925" y="8029575"/>
            <a:ext cx="14144625" cy="323850"/>
          </a:xfrm>
          <a:prstGeom prst="rect">
            <a:avLst/>
          </a:prstGeom>
          <a:solidFill>
            <a:srgbClr val="FFFFFF"/>
          </a:solidFill>
        </p:spPr>
        <p:txBody>
          <a:bodyPr wrap="square" lIns="38100" tIns="0" rIns="38100" bIns="0" anchor="ctr">
            <a:spAutoFit/>
          </a:bodyPr>
          <a:lstStyle/>
          <a:p>
            <a:pPr algn="l">
              <a:spcBef>
                <a:spcPts val="0"/>
              </a:spcBef>
              <a:spcAft>
                <a:spcPts val="0"/>
              </a:spcAft>
              <a:defRPr sz="1425" b="0">
                <a:solidFill>
                  <a:srgbClr val="262626"/>
                </a:solidFill>
                <a:latin typeface="Arial"/>
              </a:defRPr>
            </a:pPr>
            <a:r>
              <a:t>Modeling assumption: stored cart records include the unit-price values used to calculate totals.</a:t>
            </a:r>
          </a:p>
        </p:txBody>
      </p:sp>
      <p:sp>
        <p:nvSpPr>
          <p:cNvPr id="17" name="Rectangle 16"/>
          <p:cNvSpPr/>
          <p:nvPr/>
        </p:nvSpPr>
        <p:spPr>
          <a:xfrm>
            <a:off x="619125" y="4143375"/>
            <a:ext cx="2190750" cy="904875"/>
          </a:xfrm>
          <a:prstGeom prst="rect">
            <a:avLst/>
          </a:prstGeom>
          <a:solidFill>
            <a:srgbClr val="FFFFFF"/>
          </a:solidFill>
          <a:ln w="1524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5325" y="4191000"/>
            <a:ext cx="2038350" cy="809625"/>
          </a:xfrm>
          <a:prstGeom prst="rect">
            <a:avLst/>
          </a:prstGeom>
          <a:noFill/>
        </p:spPr>
        <p:txBody>
          <a:bodyPr wrap="square" lIns="38100" tIns="0" rIns="38100" bIns="0" anchor="ctr">
            <a:spAutoFit/>
          </a:bodyPr>
          <a:lstStyle/>
          <a:p>
            <a:pPr algn="ctr">
              <a:spcBef>
                <a:spcPts val="0"/>
              </a:spcBef>
              <a:spcAft>
                <a:spcPts val="0"/>
              </a:spcAft>
              <a:defRPr sz="1875" b="0">
                <a:solidFill>
                  <a:srgbClr val="262626"/>
                </a:solidFill>
                <a:latin typeface="Arial"/>
              </a:defRPr>
            </a:pPr>
            <a:r>
              <a:t>Customers</a:t>
            </a:r>
          </a:p>
        </p:txBody>
      </p:sp>
      <p:cxnSp>
        <p:nvCxnSpPr>
          <p:cNvPr id="19" name="Connector 18"/>
          <p:cNvCxnSpPr/>
          <p:nvPr/>
        </p:nvCxnSpPr>
        <p:spPr>
          <a:xfrm>
            <a:off x="11239500" y="233362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239500" y="273367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687175" y="2333625"/>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1258550" y="2352675"/>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D4</a:t>
            </a:r>
          </a:p>
        </p:txBody>
      </p:sp>
      <p:sp>
        <p:nvSpPr>
          <p:cNvPr id="23" name="TextBox 22"/>
          <p:cNvSpPr txBox="1"/>
          <p:nvPr/>
        </p:nvSpPr>
        <p:spPr>
          <a:xfrm>
            <a:off x="11725275" y="2352675"/>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Shopping carts</a:t>
            </a:r>
          </a:p>
        </p:txBody>
      </p:sp>
      <p:cxnSp>
        <p:nvCxnSpPr>
          <p:cNvPr id="24" name="Connector 23"/>
          <p:cNvCxnSpPr/>
          <p:nvPr/>
        </p:nvCxnSpPr>
        <p:spPr>
          <a:xfrm>
            <a:off x="11239500" y="44767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1239500" y="48768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687175" y="447675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1258550" y="449580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D4</a:t>
            </a:r>
          </a:p>
        </p:txBody>
      </p:sp>
      <p:sp>
        <p:nvSpPr>
          <p:cNvPr id="28" name="TextBox 27"/>
          <p:cNvSpPr txBox="1"/>
          <p:nvPr/>
        </p:nvSpPr>
        <p:spPr>
          <a:xfrm>
            <a:off x="11725275" y="449580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Shopping carts</a:t>
            </a:r>
          </a:p>
        </p:txBody>
      </p:sp>
      <p:cxnSp>
        <p:nvCxnSpPr>
          <p:cNvPr id="29" name="Connector 28"/>
          <p:cNvCxnSpPr/>
          <p:nvPr/>
        </p:nvCxnSpPr>
        <p:spPr>
          <a:xfrm>
            <a:off x="2809875" y="4362450"/>
            <a:ext cx="152400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333875" y="2505075"/>
            <a:ext cx="0" cy="1857375"/>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333875" y="2505075"/>
            <a:ext cx="1762125"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038475" y="2152650"/>
            <a:ext cx="2762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Cart changes</a:t>
            </a:r>
          </a:p>
        </p:txBody>
      </p:sp>
      <p:cxnSp>
        <p:nvCxnSpPr>
          <p:cNvPr id="33" name="Connector 32"/>
          <p:cNvCxnSpPr/>
          <p:nvPr/>
        </p:nvCxnSpPr>
        <p:spPr>
          <a:xfrm flipH="1">
            <a:off x="8477250" y="2533650"/>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677275" y="2076450"/>
            <a:ext cx="2381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Cart records</a:t>
            </a:r>
          </a:p>
        </p:txBody>
      </p:sp>
      <p:cxnSp>
        <p:nvCxnSpPr>
          <p:cNvPr id="35" name="Connector 34"/>
          <p:cNvCxnSpPr/>
          <p:nvPr/>
        </p:nvCxnSpPr>
        <p:spPr>
          <a:xfrm>
            <a:off x="7286625" y="3048000"/>
            <a:ext cx="0" cy="109537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639050" y="3381375"/>
            <a:ext cx="2905125"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Normalized cart changes</a:t>
            </a:r>
          </a:p>
        </p:txBody>
      </p:sp>
      <p:cxnSp>
        <p:nvCxnSpPr>
          <p:cNvPr id="37" name="Connector 36"/>
          <p:cNvCxnSpPr/>
          <p:nvPr/>
        </p:nvCxnSpPr>
        <p:spPr>
          <a:xfrm>
            <a:off x="8477250" y="4638675"/>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677275" y="4162425"/>
            <a:ext cx="2381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Saved cart</a:t>
            </a:r>
          </a:p>
        </p:txBody>
      </p:sp>
      <p:cxnSp>
        <p:nvCxnSpPr>
          <p:cNvPr id="39" name="Connector 38"/>
          <p:cNvCxnSpPr/>
          <p:nvPr/>
        </p:nvCxnSpPr>
        <p:spPr>
          <a:xfrm>
            <a:off x="7286625" y="5191125"/>
            <a:ext cx="0" cy="109537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639050" y="5467350"/>
            <a:ext cx="2905125"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Updated cart contents</a:t>
            </a:r>
          </a:p>
        </p:txBody>
      </p:sp>
      <p:cxnSp>
        <p:nvCxnSpPr>
          <p:cNvPr id="41" name="Connector 40"/>
          <p:cNvCxnSpPr/>
          <p:nvPr/>
        </p:nvCxnSpPr>
        <p:spPr>
          <a:xfrm flipH="1">
            <a:off x="4000500" y="6791325"/>
            <a:ext cx="209550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00500" y="4810125"/>
            <a:ext cx="0" cy="198120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2809875" y="4810125"/>
            <a:ext cx="1190625"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933700" y="6286500"/>
            <a:ext cx="293370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Cart summary and totals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3875" y="257175"/>
            <a:ext cx="14144625" cy="571500"/>
          </a:xfrm>
          <a:prstGeom prst="rect">
            <a:avLst/>
          </a:prstGeom>
          <a:solidFill>
            <a:srgbClr val="FFFFFF"/>
          </a:solidFill>
        </p:spPr>
        <p:txBody>
          <a:bodyPr wrap="square" lIns="38100" tIns="0" rIns="38100" bIns="0" anchor="ctr">
            <a:spAutoFit/>
          </a:bodyPr>
          <a:lstStyle/>
          <a:p>
            <a:pPr algn="l">
              <a:spcBef>
                <a:spcPts val="0"/>
              </a:spcBef>
              <a:spcAft>
                <a:spcPts val="0"/>
              </a:spcAft>
              <a:defRPr sz="3000" b="1">
                <a:solidFill>
                  <a:srgbClr val="262626"/>
                </a:solidFill>
                <a:latin typeface="Arial"/>
              </a:defRPr>
            </a:pPr>
            <a:r>
              <a:t>5.0  Process Checkout</a:t>
            </a:r>
          </a:p>
        </p:txBody>
      </p:sp>
      <p:sp>
        <p:nvSpPr>
          <p:cNvPr id="3" name="TextBox 2"/>
          <p:cNvSpPr txBox="1"/>
          <p:nvPr/>
        </p:nvSpPr>
        <p:spPr>
          <a:xfrm>
            <a:off x="542925" y="895350"/>
            <a:ext cx="14097000" cy="381000"/>
          </a:xfrm>
          <a:prstGeom prst="rect">
            <a:avLst/>
          </a:prstGeom>
          <a:solidFill>
            <a:srgbClr val="FFFFFF"/>
          </a:solidFill>
        </p:spPr>
        <p:txBody>
          <a:bodyPr wrap="square" lIns="38100" tIns="0" rIns="38100" bIns="0" anchor="ctr">
            <a:spAutoFit/>
          </a:bodyPr>
          <a:lstStyle/>
          <a:p>
            <a:pPr algn="l">
              <a:spcBef>
                <a:spcPts val="0"/>
              </a:spcBef>
              <a:spcAft>
                <a:spcPts val="0"/>
              </a:spcAft>
              <a:defRPr sz="1800" b="0">
                <a:solidFill>
                  <a:srgbClr val="262626"/>
                </a:solidFill>
                <a:latin typeface="Arial"/>
              </a:defRPr>
            </a:pPr>
            <a:r>
              <a:t>CardCollector System · Level 1 data flow diagram</a:t>
            </a:r>
          </a:p>
        </p:txBody>
      </p:sp>
      <p:sp>
        <p:nvSpPr>
          <p:cNvPr id="4" name="Rounded Rectangle 3"/>
          <p:cNvSpPr/>
          <p:nvPr/>
        </p:nvSpPr>
        <p:spPr>
          <a:xfrm>
            <a:off x="6096000" y="1666875"/>
            <a:ext cx="2381250" cy="95250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6096000" y="1971675"/>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0300" y="1695450"/>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5.1</a:t>
            </a:r>
          </a:p>
        </p:txBody>
      </p:sp>
      <p:sp>
        <p:nvSpPr>
          <p:cNvPr id="7" name="TextBox 6"/>
          <p:cNvSpPr txBox="1"/>
          <p:nvPr/>
        </p:nvSpPr>
        <p:spPr>
          <a:xfrm>
            <a:off x="6191250" y="2028825"/>
            <a:ext cx="2190750" cy="52387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Validate Checkout</a:t>
            </a:r>
          </a:p>
          <a:p>
            <a:pPr algn="ctr">
              <a:spcBef>
                <a:spcPts val="0"/>
              </a:spcBef>
              <a:spcAft>
                <a:spcPts val="0"/>
              </a:spcAft>
              <a:defRPr sz="1800" b="0">
                <a:solidFill>
                  <a:srgbClr val="262626"/>
                </a:solidFill>
                <a:latin typeface="Arial"/>
              </a:defRPr>
            </a:pPr>
            <a:r>
              <a:t>Data</a:t>
            </a:r>
          </a:p>
        </p:txBody>
      </p:sp>
      <p:sp>
        <p:nvSpPr>
          <p:cNvPr id="8" name="Rounded Rectangle 7"/>
          <p:cNvSpPr/>
          <p:nvPr/>
        </p:nvSpPr>
        <p:spPr>
          <a:xfrm>
            <a:off x="6096000" y="3238500"/>
            <a:ext cx="2381250" cy="95250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6096000" y="354330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10300" y="326707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5.2</a:t>
            </a:r>
          </a:p>
        </p:txBody>
      </p:sp>
      <p:sp>
        <p:nvSpPr>
          <p:cNvPr id="11" name="TextBox 10"/>
          <p:cNvSpPr txBox="1"/>
          <p:nvPr/>
        </p:nvSpPr>
        <p:spPr>
          <a:xfrm>
            <a:off x="6191250" y="3600450"/>
            <a:ext cx="2190750" cy="52387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Authorize</a:t>
            </a:r>
          </a:p>
          <a:p>
            <a:pPr algn="ctr">
              <a:spcBef>
                <a:spcPts val="0"/>
              </a:spcBef>
              <a:spcAft>
                <a:spcPts val="0"/>
              </a:spcAft>
              <a:defRPr sz="1800" b="0">
                <a:solidFill>
                  <a:srgbClr val="262626"/>
                </a:solidFill>
                <a:latin typeface="Arial"/>
              </a:defRPr>
            </a:pPr>
            <a:r>
              <a:t>Payment</a:t>
            </a:r>
          </a:p>
        </p:txBody>
      </p:sp>
      <p:sp>
        <p:nvSpPr>
          <p:cNvPr id="12" name="Rounded Rectangle 11"/>
          <p:cNvSpPr/>
          <p:nvPr/>
        </p:nvSpPr>
        <p:spPr>
          <a:xfrm>
            <a:off x="6096000" y="4810125"/>
            <a:ext cx="2381250" cy="95250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6096000" y="5114925"/>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10300" y="4838700"/>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5.3</a:t>
            </a:r>
          </a:p>
        </p:txBody>
      </p:sp>
      <p:sp>
        <p:nvSpPr>
          <p:cNvPr id="15" name="TextBox 14"/>
          <p:cNvSpPr txBox="1"/>
          <p:nvPr/>
        </p:nvSpPr>
        <p:spPr>
          <a:xfrm>
            <a:off x="6191250" y="5172075"/>
            <a:ext cx="2190750" cy="52387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Record</a:t>
            </a:r>
          </a:p>
          <a:p>
            <a:pPr algn="ctr">
              <a:spcBef>
                <a:spcPts val="0"/>
              </a:spcBef>
              <a:spcAft>
                <a:spcPts val="0"/>
              </a:spcAft>
              <a:defRPr sz="1800" b="0">
                <a:solidFill>
                  <a:srgbClr val="262626"/>
                </a:solidFill>
                <a:latin typeface="Arial"/>
              </a:defRPr>
            </a:pPr>
            <a:r>
              <a:t>Purchase</a:t>
            </a:r>
          </a:p>
        </p:txBody>
      </p:sp>
      <p:sp>
        <p:nvSpPr>
          <p:cNvPr id="16" name="Rounded Rectangle 15"/>
          <p:cNvSpPr/>
          <p:nvPr/>
        </p:nvSpPr>
        <p:spPr>
          <a:xfrm>
            <a:off x="6096000" y="6381750"/>
            <a:ext cx="2381250" cy="95250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6096000" y="668655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10300" y="641032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5.4</a:t>
            </a:r>
          </a:p>
        </p:txBody>
      </p:sp>
      <p:sp>
        <p:nvSpPr>
          <p:cNvPr id="19" name="TextBox 18"/>
          <p:cNvSpPr txBox="1"/>
          <p:nvPr/>
        </p:nvSpPr>
        <p:spPr>
          <a:xfrm>
            <a:off x="6191250" y="6743700"/>
            <a:ext cx="2190750" cy="52387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Prepare</a:t>
            </a:r>
          </a:p>
          <a:p>
            <a:pPr algn="ctr">
              <a:spcBef>
                <a:spcPts val="0"/>
              </a:spcBef>
              <a:spcAft>
                <a:spcPts val="0"/>
              </a:spcAft>
              <a:defRPr sz="1800" b="0">
                <a:solidFill>
                  <a:srgbClr val="262626"/>
                </a:solidFill>
                <a:latin typeface="Arial"/>
              </a:defRPr>
            </a:pPr>
            <a:r>
              <a:t>Confirmation</a:t>
            </a:r>
          </a:p>
        </p:txBody>
      </p:sp>
      <p:sp>
        <p:nvSpPr>
          <p:cNvPr id="20" name="TextBox 19"/>
          <p:cNvSpPr txBox="1"/>
          <p:nvPr/>
        </p:nvSpPr>
        <p:spPr>
          <a:xfrm>
            <a:off x="542925" y="8029575"/>
            <a:ext cx="14144625" cy="323850"/>
          </a:xfrm>
          <a:prstGeom prst="rect">
            <a:avLst/>
          </a:prstGeom>
          <a:solidFill>
            <a:srgbClr val="FFFFFF"/>
          </a:solidFill>
        </p:spPr>
        <p:txBody>
          <a:bodyPr wrap="square" lIns="38100" tIns="0" rIns="38100" bIns="0" anchor="ctr">
            <a:spAutoFit/>
          </a:bodyPr>
          <a:lstStyle/>
          <a:p>
            <a:pPr algn="l">
              <a:spcBef>
                <a:spcPts val="0"/>
              </a:spcBef>
              <a:spcAft>
                <a:spcPts val="0"/>
              </a:spcAft>
              <a:defRPr sz="1425" b="0">
                <a:solidFill>
                  <a:srgbClr val="262626"/>
                </a:solidFill>
                <a:latin typeface="Arial"/>
              </a:defRPr>
            </a:pPr>
            <a:r>
              <a:t>Order records and stock reservations require approved payment authorization.</a:t>
            </a:r>
          </a:p>
        </p:txBody>
      </p:sp>
      <p:sp>
        <p:nvSpPr>
          <p:cNvPr id="21" name="Rectangle 20"/>
          <p:cNvSpPr/>
          <p:nvPr/>
        </p:nvSpPr>
        <p:spPr>
          <a:xfrm>
            <a:off x="619125" y="1666875"/>
            <a:ext cx="2190750" cy="904875"/>
          </a:xfrm>
          <a:prstGeom prst="rect">
            <a:avLst/>
          </a:prstGeom>
          <a:solidFill>
            <a:srgbClr val="FFFFFF"/>
          </a:solidFill>
          <a:ln w="1524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5325" y="1714500"/>
            <a:ext cx="2038350" cy="809625"/>
          </a:xfrm>
          <a:prstGeom prst="rect">
            <a:avLst/>
          </a:prstGeom>
          <a:noFill/>
        </p:spPr>
        <p:txBody>
          <a:bodyPr wrap="square" lIns="38100" tIns="0" rIns="38100" bIns="0" anchor="ctr">
            <a:spAutoFit/>
          </a:bodyPr>
          <a:lstStyle/>
          <a:p>
            <a:pPr algn="ctr">
              <a:spcBef>
                <a:spcPts val="0"/>
              </a:spcBef>
              <a:spcAft>
                <a:spcPts val="0"/>
              </a:spcAft>
              <a:defRPr sz="1875" b="0">
                <a:solidFill>
                  <a:srgbClr val="262626"/>
                </a:solidFill>
                <a:latin typeface="Arial"/>
              </a:defRPr>
            </a:pPr>
            <a:r>
              <a:t>Customers</a:t>
            </a:r>
          </a:p>
        </p:txBody>
      </p:sp>
      <p:sp>
        <p:nvSpPr>
          <p:cNvPr id="23" name="Rectangle 22"/>
          <p:cNvSpPr/>
          <p:nvPr/>
        </p:nvSpPr>
        <p:spPr>
          <a:xfrm>
            <a:off x="11239500" y="3238500"/>
            <a:ext cx="2762250" cy="904875"/>
          </a:xfrm>
          <a:prstGeom prst="rect">
            <a:avLst/>
          </a:prstGeom>
          <a:solidFill>
            <a:srgbClr val="FFFFFF"/>
          </a:solidFill>
          <a:ln w="1524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315700" y="3286125"/>
            <a:ext cx="2609850" cy="809625"/>
          </a:xfrm>
          <a:prstGeom prst="rect">
            <a:avLst/>
          </a:prstGeom>
          <a:noFill/>
        </p:spPr>
        <p:txBody>
          <a:bodyPr wrap="square" lIns="38100" tIns="0" rIns="38100" bIns="0" anchor="ctr">
            <a:spAutoFit/>
          </a:bodyPr>
          <a:lstStyle/>
          <a:p>
            <a:pPr algn="ctr">
              <a:spcBef>
                <a:spcPts val="0"/>
              </a:spcBef>
              <a:spcAft>
                <a:spcPts val="0"/>
              </a:spcAft>
              <a:defRPr sz="1875" b="0">
                <a:solidFill>
                  <a:srgbClr val="262626"/>
                </a:solidFill>
                <a:latin typeface="Arial"/>
              </a:defRPr>
            </a:pPr>
            <a:r>
              <a:t>Payment service</a:t>
            </a:r>
          </a:p>
        </p:txBody>
      </p:sp>
      <p:cxnSp>
        <p:nvCxnSpPr>
          <p:cNvPr id="25" name="Connector 24"/>
          <p:cNvCxnSpPr/>
          <p:nvPr/>
        </p:nvCxnSpPr>
        <p:spPr>
          <a:xfrm>
            <a:off x="11239500" y="16192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239500" y="20193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687175" y="161925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1258550" y="163830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D4</a:t>
            </a:r>
          </a:p>
        </p:txBody>
      </p:sp>
      <p:sp>
        <p:nvSpPr>
          <p:cNvPr id="29" name="TextBox 28"/>
          <p:cNvSpPr txBox="1"/>
          <p:nvPr/>
        </p:nvSpPr>
        <p:spPr>
          <a:xfrm>
            <a:off x="11725275" y="163830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Shopping carts</a:t>
            </a:r>
          </a:p>
        </p:txBody>
      </p:sp>
      <p:cxnSp>
        <p:nvCxnSpPr>
          <p:cNvPr id="30" name="Connector 29"/>
          <p:cNvCxnSpPr/>
          <p:nvPr/>
        </p:nvCxnSpPr>
        <p:spPr>
          <a:xfrm>
            <a:off x="11239500" y="23812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239500" y="27813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1687175" y="238125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1258550" y="240030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D3</a:t>
            </a:r>
          </a:p>
        </p:txBody>
      </p:sp>
      <p:sp>
        <p:nvSpPr>
          <p:cNvPr id="34" name="TextBox 33"/>
          <p:cNvSpPr txBox="1"/>
          <p:nvPr/>
        </p:nvSpPr>
        <p:spPr>
          <a:xfrm>
            <a:off x="11725275" y="240030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Inventory</a:t>
            </a:r>
          </a:p>
        </p:txBody>
      </p:sp>
      <p:cxnSp>
        <p:nvCxnSpPr>
          <p:cNvPr id="35" name="Connector 34"/>
          <p:cNvCxnSpPr/>
          <p:nvPr/>
        </p:nvCxnSpPr>
        <p:spPr>
          <a:xfrm>
            <a:off x="11239500" y="46672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239500" y="50673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1687175" y="466725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1258550" y="468630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D3</a:t>
            </a:r>
          </a:p>
        </p:txBody>
      </p:sp>
      <p:sp>
        <p:nvSpPr>
          <p:cNvPr id="39" name="TextBox 38"/>
          <p:cNvSpPr txBox="1"/>
          <p:nvPr/>
        </p:nvSpPr>
        <p:spPr>
          <a:xfrm>
            <a:off x="11725275" y="468630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Inventory</a:t>
            </a:r>
          </a:p>
        </p:txBody>
      </p:sp>
      <p:cxnSp>
        <p:nvCxnSpPr>
          <p:cNvPr id="40" name="Connector 39"/>
          <p:cNvCxnSpPr/>
          <p:nvPr/>
        </p:nvCxnSpPr>
        <p:spPr>
          <a:xfrm>
            <a:off x="11239500" y="538162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1239500" y="578167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1687175" y="5381625"/>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1258550" y="5400675"/>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D5</a:t>
            </a:r>
          </a:p>
        </p:txBody>
      </p:sp>
      <p:sp>
        <p:nvSpPr>
          <p:cNvPr id="44" name="TextBox 43"/>
          <p:cNvSpPr txBox="1"/>
          <p:nvPr/>
        </p:nvSpPr>
        <p:spPr>
          <a:xfrm>
            <a:off x="11725275" y="5400675"/>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Orders</a:t>
            </a:r>
          </a:p>
        </p:txBody>
      </p:sp>
      <p:cxnSp>
        <p:nvCxnSpPr>
          <p:cNvPr id="45" name="Connector 44"/>
          <p:cNvCxnSpPr/>
          <p:nvPr/>
        </p:nvCxnSpPr>
        <p:spPr>
          <a:xfrm>
            <a:off x="11239500" y="60960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239500" y="64960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687175" y="609600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1258550" y="611505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D6</a:t>
            </a:r>
          </a:p>
        </p:txBody>
      </p:sp>
      <p:sp>
        <p:nvSpPr>
          <p:cNvPr id="49" name="TextBox 48"/>
          <p:cNvSpPr txBox="1"/>
          <p:nvPr/>
        </p:nvSpPr>
        <p:spPr>
          <a:xfrm>
            <a:off x="11725275" y="611505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Payments</a:t>
            </a:r>
          </a:p>
        </p:txBody>
      </p:sp>
      <p:cxnSp>
        <p:nvCxnSpPr>
          <p:cNvPr id="50" name="Connector 49"/>
          <p:cNvCxnSpPr/>
          <p:nvPr/>
        </p:nvCxnSpPr>
        <p:spPr>
          <a:xfrm>
            <a:off x="2809875" y="2133600"/>
            <a:ext cx="3286125"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3057525" y="1581150"/>
            <a:ext cx="2724150" cy="47625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Order details /</a:t>
            </a:r>
          </a:p>
          <a:p>
            <a:pPr algn="ctr">
              <a:spcBef>
                <a:spcPts val="0"/>
              </a:spcBef>
              <a:spcAft>
                <a:spcPts val="0"/>
              </a:spcAft>
              <a:defRPr sz="1575" b="0">
                <a:solidFill>
                  <a:srgbClr val="262626"/>
                </a:solidFill>
                <a:latin typeface="Arial"/>
              </a:defRPr>
            </a:pPr>
            <a:r>
              <a:t>payment token</a:t>
            </a:r>
          </a:p>
        </p:txBody>
      </p:sp>
      <p:cxnSp>
        <p:nvCxnSpPr>
          <p:cNvPr id="52" name="Connector 51"/>
          <p:cNvCxnSpPr/>
          <p:nvPr/>
        </p:nvCxnSpPr>
        <p:spPr>
          <a:xfrm flipH="1">
            <a:off x="9715500" y="1819275"/>
            <a:ext cx="152400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715500" y="1819275"/>
            <a:ext cx="0" cy="142875"/>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477250" y="1962150"/>
            <a:ext cx="1238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8648700" y="1504950"/>
            <a:ext cx="2247900" cy="2667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Cart contents</a:t>
            </a:r>
          </a:p>
        </p:txBody>
      </p:sp>
      <p:cxnSp>
        <p:nvCxnSpPr>
          <p:cNvPr id="56" name="Connector 55"/>
          <p:cNvCxnSpPr/>
          <p:nvPr/>
        </p:nvCxnSpPr>
        <p:spPr>
          <a:xfrm flipH="1">
            <a:off x="9715500" y="2581275"/>
            <a:ext cx="152400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9715500" y="2390775"/>
            <a:ext cx="0" cy="19050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8477250" y="2390775"/>
            <a:ext cx="1238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8858250" y="2171700"/>
            <a:ext cx="2238375" cy="28575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Available stock</a:t>
            </a:r>
          </a:p>
        </p:txBody>
      </p:sp>
      <p:cxnSp>
        <p:nvCxnSpPr>
          <p:cNvPr id="60" name="Connector 59"/>
          <p:cNvCxnSpPr/>
          <p:nvPr/>
        </p:nvCxnSpPr>
        <p:spPr>
          <a:xfrm>
            <a:off x="7286625" y="2619375"/>
            <a:ext cx="0" cy="61912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7591425" y="2705100"/>
            <a:ext cx="3095625" cy="36195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Validated order / amount</a:t>
            </a:r>
          </a:p>
        </p:txBody>
      </p:sp>
      <p:cxnSp>
        <p:nvCxnSpPr>
          <p:cNvPr id="62" name="Connector 61"/>
          <p:cNvCxnSpPr/>
          <p:nvPr/>
        </p:nvCxnSpPr>
        <p:spPr>
          <a:xfrm>
            <a:off x="8477250" y="3486150"/>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8743950" y="3124200"/>
            <a:ext cx="2200275" cy="295275"/>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Authorization</a:t>
            </a:r>
          </a:p>
        </p:txBody>
      </p:sp>
      <p:cxnSp>
        <p:nvCxnSpPr>
          <p:cNvPr id="64" name="Connector 63"/>
          <p:cNvCxnSpPr/>
          <p:nvPr/>
        </p:nvCxnSpPr>
        <p:spPr>
          <a:xfrm flipH="1">
            <a:off x="8477250" y="3876675"/>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8743950" y="3952875"/>
            <a:ext cx="2190750" cy="28575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Status</a:t>
            </a:r>
          </a:p>
        </p:txBody>
      </p:sp>
      <p:cxnSp>
        <p:nvCxnSpPr>
          <p:cNvPr id="66" name="Connector 65"/>
          <p:cNvCxnSpPr/>
          <p:nvPr/>
        </p:nvCxnSpPr>
        <p:spPr>
          <a:xfrm>
            <a:off x="7286625" y="4191000"/>
            <a:ext cx="0" cy="61912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7620000" y="4286250"/>
            <a:ext cx="2962275" cy="333375"/>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Order and payment result</a:t>
            </a:r>
          </a:p>
        </p:txBody>
      </p:sp>
      <p:cxnSp>
        <p:nvCxnSpPr>
          <p:cNvPr id="68" name="Connector 67"/>
          <p:cNvCxnSpPr/>
          <p:nvPr/>
        </p:nvCxnSpPr>
        <p:spPr>
          <a:xfrm>
            <a:off x="8477250" y="5029200"/>
            <a:ext cx="95250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9429750" y="4867275"/>
            <a:ext cx="0" cy="161925"/>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429750" y="4867275"/>
            <a:ext cx="18097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8667750" y="4581525"/>
            <a:ext cx="2409825" cy="28575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Stock reservation</a:t>
            </a:r>
          </a:p>
        </p:txBody>
      </p:sp>
      <p:cxnSp>
        <p:nvCxnSpPr>
          <p:cNvPr id="72" name="Connector 71"/>
          <p:cNvCxnSpPr/>
          <p:nvPr/>
        </p:nvCxnSpPr>
        <p:spPr>
          <a:xfrm>
            <a:off x="8477250" y="5238750"/>
            <a:ext cx="1619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0096500" y="5238750"/>
            <a:ext cx="0" cy="34290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096500" y="5581650"/>
            <a:ext cx="114300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429750" y="5629275"/>
            <a:ext cx="1714500" cy="276225"/>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Order record</a:t>
            </a:r>
          </a:p>
        </p:txBody>
      </p:sp>
      <p:cxnSp>
        <p:nvCxnSpPr>
          <p:cNvPr id="76" name="Connector 75"/>
          <p:cNvCxnSpPr/>
          <p:nvPr/>
        </p:nvCxnSpPr>
        <p:spPr>
          <a:xfrm>
            <a:off x="8477250" y="5553075"/>
            <a:ext cx="714375"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191625" y="5553075"/>
            <a:ext cx="0" cy="7429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191625" y="6296025"/>
            <a:ext cx="2047875"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9429750" y="6353175"/>
            <a:ext cx="1714500" cy="276225"/>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Payment record</a:t>
            </a:r>
          </a:p>
        </p:txBody>
      </p:sp>
      <p:cxnSp>
        <p:nvCxnSpPr>
          <p:cNvPr id="80" name="Connector 79"/>
          <p:cNvCxnSpPr/>
          <p:nvPr/>
        </p:nvCxnSpPr>
        <p:spPr>
          <a:xfrm>
            <a:off x="7286625" y="5762625"/>
            <a:ext cx="0" cy="61912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620000" y="5915025"/>
            <a:ext cx="2228850" cy="32385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Purchase outcome</a:t>
            </a:r>
          </a:p>
        </p:txBody>
      </p:sp>
      <p:cxnSp>
        <p:nvCxnSpPr>
          <p:cNvPr id="82" name="Connector 81"/>
          <p:cNvCxnSpPr/>
          <p:nvPr/>
        </p:nvCxnSpPr>
        <p:spPr>
          <a:xfrm flipH="1">
            <a:off x="3762375" y="6867525"/>
            <a:ext cx="2333625"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62375" y="2352675"/>
            <a:ext cx="0" cy="45148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2809875" y="2352675"/>
            <a:ext cx="95250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3895725" y="6819900"/>
            <a:ext cx="2143125" cy="47625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Confirmation / invoice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3875" y="257175"/>
            <a:ext cx="14144625" cy="571500"/>
          </a:xfrm>
          <a:prstGeom prst="rect">
            <a:avLst/>
          </a:prstGeom>
          <a:solidFill>
            <a:srgbClr val="FFFFFF"/>
          </a:solidFill>
        </p:spPr>
        <p:txBody>
          <a:bodyPr wrap="square" lIns="38100" tIns="0" rIns="38100" bIns="0" anchor="ctr">
            <a:spAutoFit/>
          </a:bodyPr>
          <a:lstStyle/>
          <a:p>
            <a:pPr algn="l">
              <a:spcBef>
                <a:spcPts val="0"/>
              </a:spcBef>
              <a:spcAft>
                <a:spcPts val="0"/>
              </a:spcAft>
              <a:defRPr sz="3000" b="1">
                <a:solidFill>
                  <a:srgbClr val="262626"/>
                </a:solidFill>
                <a:latin typeface="Arial"/>
              </a:defRPr>
            </a:pPr>
            <a:r>
              <a:t>6.0  Manage Inventory</a:t>
            </a:r>
          </a:p>
        </p:txBody>
      </p:sp>
      <p:sp>
        <p:nvSpPr>
          <p:cNvPr id="3" name="TextBox 2"/>
          <p:cNvSpPr txBox="1"/>
          <p:nvPr/>
        </p:nvSpPr>
        <p:spPr>
          <a:xfrm>
            <a:off x="542925" y="895350"/>
            <a:ext cx="14097000" cy="381000"/>
          </a:xfrm>
          <a:prstGeom prst="rect">
            <a:avLst/>
          </a:prstGeom>
          <a:solidFill>
            <a:srgbClr val="FFFFFF"/>
          </a:solidFill>
        </p:spPr>
        <p:txBody>
          <a:bodyPr wrap="square" lIns="38100" tIns="0" rIns="38100" bIns="0" anchor="ctr">
            <a:spAutoFit/>
          </a:bodyPr>
          <a:lstStyle/>
          <a:p>
            <a:pPr algn="l">
              <a:spcBef>
                <a:spcPts val="0"/>
              </a:spcBef>
              <a:spcAft>
                <a:spcPts val="0"/>
              </a:spcAft>
              <a:defRPr sz="1800" b="0">
                <a:solidFill>
                  <a:srgbClr val="262626"/>
                </a:solidFill>
                <a:latin typeface="Arial"/>
              </a:defRPr>
            </a:pPr>
            <a:r>
              <a:t>CardCollector System · Level 1 data flow diagram</a:t>
            </a:r>
          </a:p>
        </p:txBody>
      </p:sp>
      <p:sp>
        <p:nvSpPr>
          <p:cNvPr id="4" name="Rounded Rectangle 3"/>
          <p:cNvSpPr/>
          <p:nvPr/>
        </p:nvSpPr>
        <p:spPr>
          <a:xfrm>
            <a:off x="6096000" y="2000250"/>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6096000" y="230505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0300" y="202882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6.1</a:t>
            </a:r>
          </a:p>
        </p:txBody>
      </p:sp>
      <p:sp>
        <p:nvSpPr>
          <p:cNvPr id="7" name="TextBox 6"/>
          <p:cNvSpPr txBox="1"/>
          <p:nvPr/>
        </p:nvSpPr>
        <p:spPr>
          <a:xfrm>
            <a:off x="6191250" y="2362200"/>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Validate Stock</a:t>
            </a:r>
          </a:p>
          <a:p>
            <a:pPr algn="ctr">
              <a:spcBef>
                <a:spcPts val="0"/>
              </a:spcBef>
              <a:spcAft>
                <a:spcPts val="0"/>
              </a:spcAft>
              <a:defRPr sz="1800" b="0">
                <a:solidFill>
                  <a:srgbClr val="262626"/>
                </a:solidFill>
                <a:latin typeface="Arial"/>
              </a:defRPr>
            </a:pPr>
            <a:r>
              <a:t>Updates</a:t>
            </a:r>
          </a:p>
        </p:txBody>
      </p:sp>
      <p:sp>
        <p:nvSpPr>
          <p:cNvPr id="8" name="Rounded Rectangle 7"/>
          <p:cNvSpPr/>
          <p:nvPr/>
        </p:nvSpPr>
        <p:spPr>
          <a:xfrm>
            <a:off x="6096000" y="4143375"/>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6096000" y="4448175"/>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10300" y="4171950"/>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6.2</a:t>
            </a:r>
          </a:p>
        </p:txBody>
      </p:sp>
      <p:sp>
        <p:nvSpPr>
          <p:cNvPr id="11" name="TextBox 10"/>
          <p:cNvSpPr txBox="1"/>
          <p:nvPr/>
        </p:nvSpPr>
        <p:spPr>
          <a:xfrm>
            <a:off x="6191250" y="4505325"/>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Apply Stock</a:t>
            </a:r>
          </a:p>
          <a:p>
            <a:pPr algn="ctr">
              <a:spcBef>
                <a:spcPts val="0"/>
              </a:spcBef>
              <a:spcAft>
                <a:spcPts val="0"/>
              </a:spcAft>
              <a:defRPr sz="1800" b="0">
                <a:solidFill>
                  <a:srgbClr val="262626"/>
                </a:solidFill>
                <a:latin typeface="Arial"/>
              </a:defRPr>
            </a:pPr>
            <a:r>
              <a:t>Changes</a:t>
            </a:r>
          </a:p>
        </p:txBody>
      </p:sp>
      <p:sp>
        <p:nvSpPr>
          <p:cNvPr id="12" name="Rounded Rectangle 11"/>
          <p:cNvSpPr/>
          <p:nvPr/>
        </p:nvSpPr>
        <p:spPr>
          <a:xfrm>
            <a:off x="6096000" y="6286500"/>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6096000" y="659130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10300" y="631507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6.3</a:t>
            </a:r>
          </a:p>
        </p:txBody>
      </p:sp>
      <p:sp>
        <p:nvSpPr>
          <p:cNvPr id="15" name="TextBox 14"/>
          <p:cNvSpPr txBox="1"/>
          <p:nvPr/>
        </p:nvSpPr>
        <p:spPr>
          <a:xfrm>
            <a:off x="6191250" y="6648450"/>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Record Inventory</a:t>
            </a:r>
          </a:p>
          <a:p>
            <a:pPr algn="ctr">
              <a:spcBef>
                <a:spcPts val="0"/>
              </a:spcBef>
              <a:spcAft>
                <a:spcPts val="0"/>
              </a:spcAft>
              <a:defRPr sz="1800" b="0">
                <a:solidFill>
                  <a:srgbClr val="262626"/>
                </a:solidFill>
                <a:latin typeface="Arial"/>
              </a:defRPr>
            </a:pPr>
            <a:r>
              <a:t>Audit</a:t>
            </a:r>
          </a:p>
        </p:txBody>
      </p:sp>
      <p:sp>
        <p:nvSpPr>
          <p:cNvPr id="16" name="TextBox 15"/>
          <p:cNvSpPr txBox="1"/>
          <p:nvPr/>
        </p:nvSpPr>
        <p:spPr>
          <a:xfrm>
            <a:off x="542925" y="8029575"/>
            <a:ext cx="14144625" cy="323850"/>
          </a:xfrm>
          <a:prstGeom prst="rect">
            <a:avLst/>
          </a:prstGeom>
          <a:solidFill>
            <a:srgbClr val="FFFFFF"/>
          </a:solidFill>
        </p:spPr>
        <p:txBody>
          <a:bodyPr wrap="square" lIns="38100" tIns="0" rIns="38100" bIns="0" anchor="ctr">
            <a:spAutoFit/>
          </a:bodyPr>
          <a:lstStyle/>
          <a:p>
            <a:pPr algn="l">
              <a:spcBef>
                <a:spcPts val="0"/>
              </a:spcBef>
              <a:spcAft>
                <a:spcPts val="0"/>
              </a:spcAft>
              <a:defRPr sz="1425" b="0">
                <a:solidFill>
                  <a:srgbClr val="262626"/>
                </a:solidFill>
                <a:latin typeface="Arial"/>
              </a:defRPr>
            </a:pPr>
            <a:r>
              <a:t>Subprocess numbers identify logical functions. Arrows represent data flows.</a:t>
            </a:r>
          </a:p>
        </p:txBody>
      </p:sp>
      <p:sp>
        <p:nvSpPr>
          <p:cNvPr id="17" name="Rectangle 16"/>
          <p:cNvSpPr/>
          <p:nvPr/>
        </p:nvSpPr>
        <p:spPr>
          <a:xfrm>
            <a:off x="619125" y="2095500"/>
            <a:ext cx="2190750" cy="904875"/>
          </a:xfrm>
          <a:prstGeom prst="rect">
            <a:avLst/>
          </a:prstGeom>
          <a:solidFill>
            <a:srgbClr val="FFFFFF"/>
          </a:solidFill>
          <a:ln w="1524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5325" y="2143125"/>
            <a:ext cx="2038350" cy="809625"/>
          </a:xfrm>
          <a:prstGeom prst="rect">
            <a:avLst/>
          </a:prstGeom>
          <a:noFill/>
        </p:spPr>
        <p:txBody>
          <a:bodyPr wrap="square" lIns="38100" tIns="0" rIns="38100" bIns="0" anchor="ctr">
            <a:spAutoFit/>
          </a:bodyPr>
          <a:lstStyle/>
          <a:p>
            <a:pPr algn="ctr">
              <a:spcBef>
                <a:spcPts val="0"/>
              </a:spcBef>
              <a:spcAft>
                <a:spcPts val="0"/>
              </a:spcAft>
              <a:defRPr sz="1875" b="0">
                <a:solidFill>
                  <a:srgbClr val="262626"/>
                </a:solidFill>
                <a:latin typeface="Arial"/>
              </a:defRPr>
            </a:pPr>
            <a:r>
              <a:t>Administrators</a:t>
            </a:r>
          </a:p>
        </p:txBody>
      </p:sp>
      <p:cxnSp>
        <p:nvCxnSpPr>
          <p:cNvPr id="19" name="Connector 18"/>
          <p:cNvCxnSpPr/>
          <p:nvPr/>
        </p:nvCxnSpPr>
        <p:spPr>
          <a:xfrm>
            <a:off x="11239500" y="233362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239500" y="273367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687175" y="2333625"/>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1258550" y="2352675"/>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D3</a:t>
            </a:r>
          </a:p>
        </p:txBody>
      </p:sp>
      <p:sp>
        <p:nvSpPr>
          <p:cNvPr id="23" name="TextBox 22"/>
          <p:cNvSpPr txBox="1"/>
          <p:nvPr/>
        </p:nvSpPr>
        <p:spPr>
          <a:xfrm>
            <a:off x="11725275" y="2352675"/>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Inventory</a:t>
            </a:r>
          </a:p>
        </p:txBody>
      </p:sp>
      <p:cxnSp>
        <p:nvCxnSpPr>
          <p:cNvPr id="24" name="Connector 23"/>
          <p:cNvCxnSpPr/>
          <p:nvPr/>
        </p:nvCxnSpPr>
        <p:spPr>
          <a:xfrm>
            <a:off x="11239500" y="44767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1239500" y="48768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687175" y="447675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1258550" y="449580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D3</a:t>
            </a:r>
          </a:p>
        </p:txBody>
      </p:sp>
      <p:sp>
        <p:nvSpPr>
          <p:cNvPr id="28" name="TextBox 27"/>
          <p:cNvSpPr txBox="1"/>
          <p:nvPr/>
        </p:nvSpPr>
        <p:spPr>
          <a:xfrm>
            <a:off x="11725275" y="449580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Inventory</a:t>
            </a:r>
          </a:p>
        </p:txBody>
      </p:sp>
      <p:cxnSp>
        <p:nvCxnSpPr>
          <p:cNvPr id="29" name="Connector 28"/>
          <p:cNvCxnSpPr/>
          <p:nvPr/>
        </p:nvCxnSpPr>
        <p:spPr>
          <a:xfrm>
            <a:off x="11239500" y="661987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239500" y="701992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687175" y="6619875"/>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1258550" y="6638925"/>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D9</a:t>
            </a:r>
          </a:p>
        </p:txBody>
      </p:sp>
      <p:sp>
        <p:nvSpPr>
          <p:cNvPr id="33" name="TextBox 32"/>
          <p:cNvSpPr txBox="1"/>
          <p:nvPr/>
        </p:nvSpPr>
        <p:spPr>
          <a:xfrm>
            <a:off x="11725275" y="6638925"/>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Audit log</a:t>
            </a:r>
          </a:p>
        </p:txBody>
      </p:sp>
      <p:cxnSp>
        <p:nvCxnSpPr>
          <p:cNvPr id="34" name="Connector 33"/>
          <p:cNvCxnSpPr/>
          <p:nvPr/>
        </p:nvCxnSpPr>
        <p:spPr>
          <a:xfrm>
            <a:off x="2809875" y="2533650"/>
            <a:ext cx="3286125"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038475" y="1943100"/>
            <a:ext cx="2752725" cy="523875"/>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Stock and acquisition</a:t>
            </a:r>
          </a:p>
          <a:p>
            <a:pPr algn="ctr">
              <a:spcBef>
                <a:spcPts val="0"/>
              </a:spcBef>
              <a:spcAft>
                <a:spcPts val="0"/>
              </a:spcAft>
              <a:defRPr sz="1575" b="0">
                <a:solidFill>
                  <a:srgbClr val="262626"/>
                </a:solidFill>
                <a:latin typeface="Arial"/>
              </a:defRPr>
            </a:pPr>
            <a:r>
              <a:t>updates</a:t>
            </a:r>
          </a:p>
        </p:txBody>
      </p:sp>
      <p:cxnSp>
        <p:nvCxnSpPr>
          <p:cNvPr id="36" name="Connector 35"/>
          <p:cNvCxnSpPr/>
          <p:nvPr/>
        </p:nvCxnSpPr>
        <p:spPr>
          <a:xfrm flipH="1">
            <a:off x="8477250" y="2533650"/>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677275" y="2076450"/>
            <a:ext cx="2381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Stock records</a:t>
            </a:r>
          </a:p>
        </p:txBody>
      </p:sp>
      <p:cxnSp>
        <p:nvCxnSpPr>
          <p:cNvPr id="38" name="Connector 37"/>
          <p:cNvCxnSpPr/>
          <p:nvPr/>
        </p:nvCxnSpPr>
        <p:spPr>
          <a:xfrm>
            <a:off x="7286625" y="3048000"/>
            <a:ext cx="0" cy="109537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639050" y="3381375"/>
            <a:ext cx="3095625"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Validated stock adjustment</a:t>
            </a:r>
          </a:p>
        </p:txBody>
      </p:sp>
      <p:cxnSp>
        <p:nvCxnSpPr>
          <p:cNvPr id="40" name="Connector 39"/>
          <p:cNvCxnSpPr/>
          <p:nvPr/>
        </p:nvCxnSpPr>
        <p:spPr>
          <a:xfrm>
            <a:off x="8477250" y="4638675"/>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677275" y="4162425"/>
            <a:ext cx="2381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Stock changes</a:t>
            </a:r>
          </a:p>
        </p:txBody>
      </p:sp>
      <p:cxnSp>
        <p:nvCxnSpPr>
          <p:cNvPr id="42" name="Connector 41"/>
          <p:cNvCxnSpPr/>
          <p:nvPr/>
        </p:nvCxnSpPr>
        <p:spPr>
          <a:xfrm>
            <a:off x="7286625" y="5191125"/>
            <a:ext cx="0" cy="109537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639050" y="5467350"/>
            <a:ext cx="2905125"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Inventory change record</a:t>
            </a:r>
          </a:p>
        </p:txBody>
      </p:sp>
      <p:cxnSp>
        <p:nvCxnSpPr>
          <p:cNvPr id="44" name="Connector 43"/>
          <p:cNvCxnSpPr/>
          <p:nvPr/>
        </p:nvCxnSpPr>
        <p:spPr>
          <a:xfrm>
            <a:off x="8477250" y="6781800"/>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639175" y="6276975"/>
            <a:ext cx="2524125"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Inventory audit entries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3875" y="257175"/>
            <a:ext cx="14144625" cy="571500"/>
          </a:xfrm>
          <a:prstGeom prst="rect">
            <a:avLst/>
          </a:prstGeom>
          <a:solidFill>
            <a:srgbClr val="FFFFFF"/>
          </a:solidFill>
        </p:spPr>
        <p:txBody>
          <a:bodyPr wrap="square" lIns="38100" tIns="0" rIns="38100" bIns="0" anchor="ctr">
            <a:spAutoFit/>
          </a:bodyPr>
          <a:lstStyle/>
          <a:p>
            <a:pPr algn="l">
              <a:spcBef>
                <a:spcPts val="0"/>
              </a:spcBef>
              <a:spcAft>
                <a:spcPts val="0"/>
              </a:spcAft>
              <a:defRPr sz="3000" b="1">
                <a:solidFill>
                  <a:srgbClr val="262626"/>
                </a:solidFill>
                <a:latin typeface="Arial"/>
              </a:defRPr>
            </a:pPr>
            <a:r>
              <a:t>7.0  Fulfill Orders</a:t>
            </a:r>
          </a:p>
        </p:txBody>
      </p:sp>
      <p:sp>
        <p:nvSpPr>
          <p:cNvPr id="3" name="TextBox 2"/>
          <p:cNvSpPr txBox="1"/>
          <p:nvPr/>
        </p:nvSpPr>
        <p:spPr>
          <a:xfrm>
            <a:off x="542925" y="895350"/>
            <a:ext cx="14097000" cy="381000"/>
          </a:xfrm>
          <a:prstGeom prst="rect">
            <a:avLst/>
          </a:prstGeom>
          <a:solidFill>
            <a:srgbClr val="FFFFFF"/>
          </a:solidFill>
        </p:spPr>
        <p:txBody>
          <a:bodyPr wrap="square" lIns="38100" tIns="0" rIns="38100" bIns="0" anchor="ctr">
            <a:spAutoFit/>
          </a:bodyPr>
          <a:lstStyle/>
          <a:p>
            <a:pPr algn="l">
              <a:spcBef>
                <a:spcPts val="0"/>
              </a:spcBef>
              <a:spcAft>
                <a:spcPts val="0"/>
              </a:spcAft>
              <a:defRPr sz="1800" b="0">
                <a:solidFill>
                  <a:srgbClr val="262626"/>
                </a:solidFill>
                <a:latin typeface="Arial"/>
              </a:defRPr>
            </a:pPr>
            <a:r>
              <a:t>CardCollector System · Level 1 data flow diagram</a:t>
            </a:r>
          </a:p>
        </p:txBody>
      </p:sp>
      <p:sp>
        <p:nvSpPr>
          <p:cNvPr id="4" name="Rounded Rectangle 3"/>
          <p:cNvSpPr/>
          <p:nvPr/>
        </p:nvSpPr>
        <p:spPr>
          <a:xfrm>
            <a:off x="6096000" y="1666875"/>
            <a:ext cx="2381250" cy="95250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6096000" y="1971675"/>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0300" y="1695450"/>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7.1</a:t>
            </a:r>
          </a:p>
        </p:txBody>
      </p:sp>
      <p:sp>
        <p:nvSpPr>
          <p:cNvPr id="7" name="TextBox 6"/>
          <p:cNvSpPr txBox="1"/>
          <p:nvPr/>
        </p:nvSpPr>
        <p:spPr>
          <a:xfrm>
            <a:off x="6191250" y="2028825"/>
            <a:ext cx="2190750" cy="52387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Prepare</a:t>
            </a:r>
          </a:p>
          <a:p>
            <a:pPr algn="ctr">
              <a:spcBef>
                <a:spcPts val="0"/>
              </a:spcBef>
              <a:spcAft>
                <a:spcPts val="0"/>
              </a:spcAft>
              <a:defRPr sz="1800" b="0">
                <a:solidFill>
                  <a:srgbClr val="262626"/>
                </a:solidFill>
                <a:latin typeface="Arial"/>
              </a:defRPr>
            </a:pPr>
            <a:r>
              <a:t>Fulfillment</a:t>
            </a:r>
          </a:p>
        </p:txBody>
      </p:sp>
      <p:sp>
        <p:nvSpPr>
          <p:cNvPr id="8" name="Rounded Rectangle 7"/>
          <p:cNvSpPr/>
          <p:nvPr/>
        </p:nvSpPr>
        <p:spPr>
          <a:xfrm>
            <a:off x="6096000" y="3238500"/>
            <a:ext cx="2381250" cy="95250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6096000" y="354330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10300" y="326707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7.2</a:t>
            </a:r>
          </a:p>
        </p:txBody>
      </p:sp>
      <p:sp>
        <p:nvSpPr>
          <p:cNvPr id="11" name="TextBox 10"/>
          <p:cNvSpPr txBox="1"/>
          <p:nvPr/>
        </p:nvSpPr>
        <p:spPr>
          <a:xfrm>
            <a:off x="6191250" y="3600450"/>
            <a:ext cx="2190750" cy="52387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Request</a:t>
            </a:r>
          </a:p>
          <a:p>
            <a:pPr algn="ctr">
              <a:spcBef>
                <a:spcPts val="0"/>
              </a:spcBef>
              <a:spcAft>
                <a:spcPts val="0"/>
              </a:spcAft>
              <a:defRPr sz="1800" b="0">
                <a:solidFill>
                  <a:srgbClr val="262626"/>
                </a:solidFill>
                <a:latin typeface="Arial"/>
              </a:defRPr>
            </a:pPr>
            <a:r>
              <a:t>Shipment</a:t>
            </a:r>
          </a:p>
        </p:txBody>
      </p:sp>
      <p:sp>
        <p:nvSpPr>
          <p:cNvPr id="12" name="Rounded Rectangle 11"/>
          <p:cNvSpPr/>
          <p:nvPr/>
        </p:nvSpPr>
        <p:spPr>
          <a:xfrm>
            <a:off x="6096000" y="4810125"/>
            <a:ext cx="2381250" cy="95250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6096000" y="5114925"/>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10300" y="4838700"/>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7.3</a:t>
            </a:r>
          </a:p>
        </p:txBody>
      </p:sp>
      <p:sp>
        <p:nvSpPr>
          <p:cNvPr id="15" name="TextBox 14"/>
          <p:cNvSpPr txBox="1"/>
          <p:nvPr/>
        </p:nvSpPr>
        <p:spPr>
          <a:xfrm>
            <a:off x="6191250" y="5172075"/>
            <a:ext cx="2190750" cy="52387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Record Shipment</a:t>
            </a:r>
          </a:p>
          <a:p>
            <a:pPr algn="ctr">
              <a:spcBef>
                <a:spcPts val="0"/>
              </a:spcBef>
              <a:spcAft>
                <a:spcPts val="0"/>
              </a:spcAft>
              <a:defRPr sz="1800" b="0">
                <a:solidFill>
                  <a:srgbClr val="262626"/>
                </a:solidFill>
                <a:latin typeface="Arial"/>
              </a:defRPr>
            </a:pPr>
            <a:r>
              <a:t>Tracking</a:t>
            </a:r>
          </a:p>
        </p:txBody>
      </p:sp>
      <p:sp>
        <p:nvSpPr>
          <p:cNvPr id="16" name="Rounded Rectangle 15"/>
          <p:cNvSpPr/>
          <p:nvPr/>
        </p:nvSpPr>
        <p:spPr>
          <a:xfrm>
            <a:off x="6096000" y="6381750"/>
            <a:ext cx="2381250" cy="95250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6096000" y="668655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10300" y="641032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7.4</a:t>
            </a:r>
          </a:p>
        </p:txBody>
      </p:sp>
      <p:sp>
        <p:nvSpPr>
          <p:cNvPr id="19" name="TextBox 18"/>
          <p:cNvSpPr txBox="1"/>
          <p:nvPr/>
        </p:nvSpPr>
        <p:spPr>
          <a:xfrm>
            <a:off x="6191250" y="6743700"/>
            <a:ext cx="2190750" cy="52387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Publish Shipment</a:t>
            </a:r>
          </a:p>
          <a:p>
            <a:pPr algn="ctr">
              <a:spcBef>
                <a:spcPts val="0"/>
              </a:spcBef>
              <a:spcAft>
                <a:spcPts val="0"/>
              </a:spcAft>
              <a:defRPr sz="1800" b="0">
                <a:solidFill>
                  <a:srgbClr val="262626"/>
                </a:solidFill>
                <a:latin typeface="Arial"/>
              </a:defRPr>
            </a:pPr>
            <a:r>
              <a:t>Status</a:t>
            </a:r>
          </a:p>
        </p:txBody>
      </p:sp>
      <p:sp>
        <p:nvSpPr>
          <p:cNvPr id="20" name="TextBox 19"/>
          <p:cNvSpPr txBox="1"/>
          <p:nvPr/>
        </p:nvSpPr>
        <p:spPr>
          <a:xfrm>
            <a:off x="542925" y="8029575"/>
            <a:ext cx="14144625" cy="323850"/>
          </a:xfrm>
          <a:prstGeom prst="rect">
            <a:avLst/>
          </a:prstGeom>
          <a:solidFill>
            <a:srgbClr val="FFFFFF"/>
          </a:solidFill>
        </p:spPr>
        <p:txBody>
          <a:bodyPr wrap="square" lIns="38100" tIns="0" rIns="38100" bIns="0" anchor="ctr">
            <a:spAutoFit/>
          </a:bodyPr>
          <a:lstStyle/>
          <a:p>
            <a:pPr algn="l">
              <a:spcBef>
                <a:spcPts val="0"/>
              </a:spcBef>
              <a:spcAft>
                <a:spcPts val="0"/>
              </a:spcAft>
              <a:defRPr sz="1425" b="0">
                <a:solidFill>
                  <a:srgbClr val="262626"/>
                </a:solidFill>
                <a:latin typeface="Arial"/>
              </a:defRPr>
            </a:pPr>
            <a:r>
              <a:t>Subprocess numbers identify logical functions. Arrows represent data flows.</a:t>
            </a:r>
          </a:p>
        </p:txBody>
      </p:sp>
      <p:sp>
        <p:nvSpPr>
          <p:cNvPr id="21" name="Rectangle 20"/>
          <p:cNvSpPr/>
          <p:nvPr/>
        </p:nvSpPr>
        <p:spPr>
          <a:xfrm>
            <a:off x="619125" y="2047875"/>
            <a:ext cx="2190750" cy="904875"/>
          </a:xfrm>
          <a:prstGeom prst="rect">
            <a:avLst/>
          </a:prstGeom>
          <a:solidFill>
            <a:srgbClr val="FFFFFF"/>
          </a:solidFill>
          <a:ln w="1524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5325" y="2095500"/>
            <a:ext cx="2038350" cy="809625"/>
          </a:xfrm>
          <a:prstGeom prst="rect">
            <a:avLst/>
          </a:prstGeom>
          <a:noFill/>
        </p:spPr>
        <p:txBody>
          <a:bodyPr wrap="square" lIns="38100" tIns="0" rIns="38100" bIns="0" anchor="ctr">
            <a:spAutoFit/>
          </a:bodyPr>
          <a:lstStyle/>
          <a:p>
            <a:pPr algn="ctr">
              <a:spcBef>
                <a:spcPts val="0"/>
              </a:spcBef>
              <a:spcAft>
                <a:spcPts val="0"/>
              </a:spcAft>
              <a:defRPr sz="1875" b="0">
                <a:solidFill>
                  <a:srgbClr val="262626"/>
                </a:solidFill>
                <a:latin typeface="Arial"/>
              </a:defRPr>
            </a:pPr>
            <a:r>
              <a:t>Administrators</a:t>
            </a:r>
          </a:p>
        </p:txBody>
      </p:sp>
      <p:sp>
        <p:nvSpPr>
          <p:cNvPr id="23" name="Rectangle 22"/>
          <p:cNvSpPr/>
          <p:nvPr/>
        </p:nvSpPr>
        <p:spPr>
          <a:xfrm>
            <a:off x="619125" y="6429375"/>
            <a:ext cx="2190750" cy="904875"/>
          </a:xfrm>
          <a:prstGeom prst="rect">
            <a:avLst/>
          </a:prstGeom>
          <a:solidFill>
            <a:srgbClr val="FFFFFF"/>
          </a:solidFill>
          <a:ln w="1524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5325" y="6477000"/>
            <a:ext cx="2038350" cy="809625"/>
          </a:xfrm>
          <a:prstGeom prst="rect">
            <a:avLst/>
          </a:prstGeom>
          <a:noFill/>
        </p:spPr>
        <p:txBody>
          <a:bodyPr wrap="square" lIns="38100" tIns="0" rIns="38100" bIns="0" anchor="ctr">
            <a:spAutoFit/>
          </a:bodyPr>
          <a:lstStyle/>
          <a:p>
            <a:pPr algn="ctr">
              <a:spcBef>
                <a:spcPts val="0"/>
              </a:spcBef>
              <a:spcAft>
                <a:spcPts val="0"/>
              </a:spcAft>
              <a:defRPr sz="1875" b="0">
                <a:solidFill>
                  <a:srgbClr val="262626"/>
                </a:solidFill>
                <a:latin typeface="Arial"/>
              </a:defRPr>
            </a:pPr>
            <a:r>
              <a:t>Customers</a:t>
            </a:r>
          </a:p>
        </p:txBody>
      </p:sp>
      <p:sp>
        <p:nvSpPr>
          <p:cNvPr id="25" name="Rectangle 24"/>
          <p:cNvSpPr/>
          <p:nvPr/>
        </p:nvSpPr>
        <p:spPr>
          <a:xfrm>
            <a:off x="11239500" y="3286125"/>
            <a:ext cx="2762250" cy="904875"/>
          </a:xfrm>
          <a:prstGeom prst="rect">
            <a:avLst/>
          </a:prstGeom>
          <a:solidFill>
            <a:srgbClr val="FFFFFF"/>
          </a:solidFill>
          <a:ln w="1524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315700" y="3333750"/>
            <a:ext cx="2609850" cy="809625"/>
          </a:xfrm>
          <a:prstGeom prst="rect">
            <a:avLst/>
          </a:prstGeom>
          <a:noFill/>
        </p:spPr>
        <p:txBody>
          <a:bodyPr wrap="square" lIns="38100" tIns="0" rIns="38100" bIns="0" anchor="ctr">
            <a:spAutoFit/>
          </a:bodyPr>
          <a:lstStyle/>
          <a:p>
            <a:pPr algn="ctr">
              <a:spcBef>
                <a:spcPts val="0"/>
              </a:spcBef>
              <a:spcAft>
                <a:spcPts val="0"/>
              </a:spcAft>
              <a:defRPr sz="1875" b="0">
                <a:solidFill>
                  <a:srgbClr val="262626"/>
                </a:solidFill>
                <a:latin typeface="Arial"/>
              </a:defRPr>
            </a:pPr>
            <a:r>
              <a:t>Shipping carriers</a:t>
            </a:r>
          </a:p>
        </p:txBody>
      </p:sp>
      <p:cxnSp>
        <p:nvCxnSpPr>
          <p:cNvPr id="27" name="Connector 26"/>
          <p:cNvCxnSpPr/>
          <p:nvPr/>
        </p:nvCxnSpPr>
        <p:spPr>
          <a:xfrm>
            <a:off x="11239500" y="185737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239500" y="225742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687175" y="1857375"/>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1258550" y="1876425"/>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D5</a:t>
            </a:r>
          </a:p>
        </p:txBody>
      </p:sp>
      <p:sp>
        <p:nvSpPr>
          <p:cNvPr id="31" name="TextBox 30"/>
          <p:cNvSpPr txBox="1"/>
          <p:nvPr/>
        </p:nvSpPr>
        <p:spPr>
          <a:xfrm>
            <a:off x="11725275" y="1876425"/>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Orders</a:t>
            </a:r>
          </a:p>
        </p:txBody>
      </p:sp>
      <p:cxnSp>
        <p:nvCxnSpPr>
          <p:cNvPr id="32" name="Connector 31"/>
          <p:cNvCxnSpPr/>
          <p:nvPr/>
        </p:nvCxnSpPr>
        <p:spPr>
          <a:xfrm>
            <a:off x="11239500" y="52197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239500" y="56197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687175" y="521970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1258550" y="523875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D7</a:t>
            </a:r>
          </a:p>
        </p:txBody>
      </p:sp>
      <p:sp>
        <p:nvSpPr>
          <p:cNvPr id="36" name="TextBox 35"/>
          <p:cNvSpPr txBox="1"/>
          <p:nvPr/>
        </p:nvSpPr>
        <p:spPr>
          <a:xfrm>
            <a:off x="11725275" y="523875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Shipments</a:t>
            </a:r>
          </a:p>
        </p:txBody>
      </p:sp>
      <p:cxnSp>
        <p:nvCxnSpPr>
          <p:cNvPr id="37" name="Connector 36"/>
          <p:cNvCxnSpPr/>
          <p:nvPr/>
        </p:nvCxnSpPr>
        <p:spPr>
          <a:xfrm flipH="1">
            <a:off x="8477250" y="2057400"/>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686800" y="1581150"/>
            <a:ext cx="2381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Confirmed order</a:t>
            </a:r>
          </a:p>
        </p:txBody>
      </p:sp>
      <p:cxnSp>
        <p:nvCxnSpPr>
          <p:cNvPr id="39" name="Connector 38"/>
          <p:cNvCxnSpPr/>
          <p:nvPr/>
        </p:nvCxnSpPr>
        <p:spPr>
          <a:xfrm flipH="1">
            <a:off x="4238625" y="2047875"/>
            <a:ext cx="1857375"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238625" y="2047875"/>
            <a:ext cx="0" cy="276225"/>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2809875" y="2324100"/>
            <a:ext cx="14287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086100" y="1619250"/>
            <a:ext cx="2705100" cy="333375"/>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Pick lists</a:t>
            </a:r>
          </a:p>
        </p:txBody>
      </p:sp>
      <p:cxnSp>
        <p:nvCxnSpPr>
          <p:cNvPr id="43" name="Connector 42"/>
          <p:cNvCxnSpPr/>
          <p:nvPr/>
        </p:nvCxnSpPr>
        <p:spPr>
          <a:xfrm>
            <a:off x="2809875" y="2686050"/>
            <a:ext cx="1095375"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905250" y="2686050"/>
            <a:ext cx="0" cy="102870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905250" y="3714750"/>
            <a:ext cx="21907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990850" y="3152775"/>
            <a:ext cx="2762250" cy="40005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Fulfillment updates</a:t>
            </a:r>
          </a:p>
        </p:txBody>
      </p:sp>
      <p:cxnSp>
        <p:nvCxnSpPr>
          <p:cNvPr id="47" name="Connector 46"/>
          <p:cNvCxnSpPr/>
          <p:nvPr/>
        </p:nvCxnSpPr>
        <p:spPr>
          <a:xfrm>
            <a:off x="7286625" y="2619375"/>
            <a:ext cx="0" cy="61912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620000" y="2724150"/>
            <a:ext cx="2914650" cy="352425"/>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Order fulfillment details</a:t>
            </a:r>
          </a:p>
        </p:txBody>
      </p:sp>
      <p:cxnSp>
        <p:nvCxnSpPr>
          <p:cNvPr id="49" name="Connector 48"/>
          <p:cNvCxnSpPr/>
          <p:nvPr/>
        </p:nvCxnSpPr>
        <p:spPr>
          <a:xfrm>
            <a:off x="8477250" y="3676650"/>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8696325" y="3228975"/>
            <a:ext cx="2390775" cy="32385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Shipment request</a:t>
            </a:r>
          </a:p>
        </p:txBody>
      </p:sp>
      <p:cxnSp>
        <p:nvCxnSpPr>
          <p:cNvPr id="51" name="Connector 50"/>
          <p:cNvCxnSpPr/>
          <p:nvPr/>
        </p:nvCxnSpPr>
        <p:spPr>
          <a:xfrm>
            <a:off x="12553950" y="4191000"/>
            <a:ext cx="0" cy="4381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9525000" y="4629150"/>
            <a:ext cx="30289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525000" y="4629150"/>
            <a:ext cx="0" cy="4381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477250" y="5067300"/>
            <a:ext cx="10477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715500" y="4648200"/>
            <a:ext cx="2571750" cy="32385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Tracking updates</a:t>
            </a:r>
          </a:p>
        </p:txBody>
      </p:sp>
      <p:cxnSp>
        <p:nvCxnSpPr>
          <p:cNvPr id="56" name="Connector 55"/>
          <p:cNvCxnSpPr/>
          <p:nvPr/>
        </p:nvCxnSpPr>
        <p:spPr>
          <a:xfrm>
            <a:off x="7286625" y="4191000"/>
            <a:ext cx="0" cy="61912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7620000" y="4295775"/>
            <a:ext cx="2190750" cy="314325"/>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Shipment context</a:t>
            </a:r>
          </a:p>
        </p:txBody>
      </p:sp>
      <p:cxnSp>
        <p:nvCxnSpPr>
          <p:cNvPr id="58" name="Connector 57"/>
          <p:cNvCxnSpPr/>
          <p:nvPr/>
        </p:nvCxnSpPr>
        <p:spPr>
          <a:xfrm flipV="1">
            <a:off x="8477250" y="5419725"/>
            <a:ext cx="2762250" cy="4762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8705850" y="5534025"/>
            <a:ext cx="2381250" cy="32385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Shipment record</a:t>
            </a:r>
          </a:p>
        </p:txBody>
      </p:sp>
      <p:cxnSp>
        <p:nvCxnSpPr>
          <p:cNvPr id="60" name="Connector 59"/>
          <p:cNvCxnSpPr/>
          <p:nvPr/>
        </p:nvCxnSpPr>
        <p:spPr>
          <a:xfrm>
            <a:off x="7286625" y="5762625"/>
            <a:ext cx="0" cy="61912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7620000" y="5924550"/>
            <a:ext cx="3000375" cy="32385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Updated shipment details</a:t>
            </a:r>
          </a:p>
        </p:txBody>
      </p:sp>
      <p:cxnSp>
        <p:nvCxnSpPr>
          <p:cNvPr id="62" name="Connector 61"/>
          <p:cNvCxnSpPr/>
          <p:nvPr/>
        </p:nvCxnSpPr>
        <p:spPr>
          <a:xfrm flipH="1">
            <a:off x="2809875" y="6877050"/>
            <a:ext cx="3286125"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3028950" y="6391275"/>
            <a:ext cx="2667000" cy="352425"/>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Shipment status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3875" y="257175"/>
            <a:ext cx="14144625" cy="571500"/>
          </a:xfrm>
          <a:prstGeom prst="rect">
            <a:avLst/>
          </a:prstGeom>
          <a:solidFill>
            <a:srgbClr val="FFFFFF"/>
          </a:solidFill>
        </p:spPr>
        <p:txBody>
          <a:bodyPr wrap="square" lIns="38100" tIns="0" rIns="38100" bIns="0" anchor="ctr">
            <a:spAutoFit/>
          </a:bodyPr>
          <a:lstStyle/>
          <a:p>
            <a:pPr algn="l">
              <a:spcBef>
                <a:spcPts val="0"/>
              </a:spcBef>
              <a:spcAft>
                <a:spcPts val="0"/>
              </a:spcAft>
              <a:defRPr sz="3000" b="1">
                <a:solidFill>
                  <a:srgbClr val="262626"/>
                </a:solidFill>
                <a:latin typeface="Arial"/>
              </a:defRPr>
            </a:pPr>
            <a:r>
              <a:t>8.0  Manage Returns</a:t>
            </a:r>
          </a:p>
        </p:txBody>
      </p:sp>
      <p:sp>
        <p:nvSpPr>
          <p:cNvPr id="3" name="TextBox 2"/>
          <p:cNvSpPr txBox="1"/>
          <p:nvPr/>
        </p:nvSpPr>
        <p:spPr>
          <a:xfrm>
            <a:off x="542925" y="895350"/>
            <a:ext cx="14097000" cy="381000"/>
          </a:xfrm>
          <a:prstGeom prst="rect">
            <a:avLst/>
          </a:prstGeom>
          <a:solidFill>
            <a:srgbClr val="FFFFFF"/>
          </a:solidFill>
        </p:spPr>
        <p:txBody>
          <a:bodyPr wrap="square" lIns="38100" tIns="0" rIns="38100" bIns="0" anchor="ctr">
            <a:spAutoFit/>
          </a:bodyPr>
          <a:lstStyle/>
          <a:p>
            <a:pPr algn="l">
              <a:spcBef>
                <a:spcPts val="0"/>
              </a:spcBef>
              <a:spcAft>
                <a:spcPts val="0"/>
              </a:spcAft>
              <a:defRPr sz="1800" b="0">
                <a:solidFill>
                  <a:srgbClr val="262626"/>
                </a:solidFill>
                <a:latin typeface="Arial"/>
              </a:defRPr>
            </a:pPr>
            <a:r>
              <a:t>CardCollector System · Level 1 data flow diagram</a:t>
            </a:r>
          </a:p>
        </p:txBody>
      </p:sp>
      <p:sp>
        <p:nvSpPr>
          <p:cNvPr id="4" name="Rounded Rectangle 3"/>
          <p:cNvSpPr/>
          <p:nvPr/>
        </p:nvSpPr>
        <p:spPr>
          <a:xfrm>
            <a:off x="6096000" y="2000250"/>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6096000" y="230505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0300" y="202882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8.1</a:t>
            </a:r>
          </a:p>
        </p:txBody>
      </p:sp>
      <p:sp>
        <p:nvSpPr>
          <p:cNvPr id="7" name="TextBox 6"/>
          <p:cNvSpPr txBox="1"/>
          <p:nvPr/>
        </p:nvSpPr>
        <p:spPr>
          <a:xfrm>
            <a:off x="6191250" y="2362200"/>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Capture Return</a:t>
            </a:r>
          </a:p>
          <a:p>
            <a:pPr algn="ctr">
              <a:spcBef>
                <a:spcPts val="0"/>
              </a:spcBef>
              <a:spcAft>
                <a:spcPts val="0"/>
              </a:spcAft>
              <a:defRPr sz="1800" b="0">
                <a:solidFill>
                  <a:srgbClr val="262626"/>
                </a:solidFill>
                <a:latin typeface="Arial"/>
              </a:defRPr>
            </a:pPr>
            <a:r>
              <a:t>Request</a:t>
            </a:r>
          </a:p>
        </p:txBody>
      </p:sp>
      <p:sp>
        <p:nvSpPr>
          <p:cNvPr id="8" name="Rounded Rectangle 7"/>
          <p:cNvSpPr/>
          <p:nvPr/>
        </p:nvSpPr>
        <p:spPr>
          <a:xfrm>
            <a:off x="6096000" y="4143375"/>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6096000" y="4448175"/>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10300" y="4171950"/>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8.2</a:t>
            </a:r>
          </a:p>
        </p:txBody>
      </p:sp>
      <p:sp>
        <p:nvSpPr>
          <p:cNvPr id="11" name="TextBox 10"/>
          <p:cNvSpPr txBox="1"/>
          <p:nvPr/>
        </p:nvSpPr>
        <p:spPr>
          <a:xfrm>
            <a:off x="6191250" y="4505325"/>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Assess Return</a:t>
            </a:r>
          </a:p>
          <a:p>
            <a:pPr algn="ctr">
              <a:spcBef>
                <a:spcPts val="0"/>
              </a:spcBef>
              <a:spcAft>
                <a:spcPts val="0"/>
              </a:spcAft>
              <a:defRPr sz="1800" b="0">
                <a:solidFill>
                  <a:srgbClr val="262626"/>
                </a:solidFill>
                <a:latin typeface="Arial"/>
              </a:defRPr>
            </a:pPr>
            <a:r>
              <a:t>Eligibility</a:t>
            </a:r>
          </a:p>
        </p:txBody>
      </p:sp>
      <p:sp>
        <p:nvSpPr>
          <p:cNvPr id="12" name="Rounded Rectangle 11"/>
          <p:cNvSpPr/>
          <p:nvPr/>
        </p:nvSpPr>
        <p:spPr>
          <a:xfrm>
            <a:off x="6096000" y="6286500"/>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6096000" y="659130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10300" y="631507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8.3</a:t>
            </a:r>
          </a:p>
        </p:txBody>
      </p:sp>
      <p:sp>
        <p:nvSpPr>
          <p:cNvPr id="15" name="TextBox 14"/>
          <p:cNvSpPr txBox="1"/>
          <p:nvPr/>
        </p:nvSpPr>
        <p:spPr>
          <a:xfrm>
            <a:off x="6191250" y="6648450"/>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Record Return</a:t>
            </a:r>
          </a:p>
          <a:p>
            <a:pPr algn="ctr">
              <a:spcBef>
                <a:spcPts val="0"/>
              </a:spcBef>
              <a:spcAft>
                <a:spcPts val="0"/>
              </a:spcAft>
              <a:defRPr sz="1800" b="0">
                <a:solidFill>
                  <a:srgbClr val="262626"/>
                </a:solidFill>
                <a:latin typeface="Arial"/>
              </a:defRPr>
            </a:pPr>
            <a:r>
              <a:t>Decision</a:t>
            </a:r>
          </a:p>
        </p:txBody>
      </p:sp>
      <p:sp>
        <p:nvSpPr>
          <p:cNvPr id="16" name="TextBox 15"/>
          <p:cNvSpPr txBox="1"/>
          <p:nvPr/>
        </p:nvSpPr>
        <p:spPr>
          <a:xfrm>
            <a:off x="542925" y="8029575"/>
            <a:ext cx="14144625" cy="323850"/>
          </a:xfrm>
          <a:prstGeom prst="rect">
            <a:avLst/>
          </a:prstGeom>
          <a:solidFill>
            <a:srgbClr val="FFFFFF"/>
          </a:solidFill>
        </p:spPr>
        <p:txBody>
          <a:bodyPr wrap="square" lIns="38100" tIns="0" rIns="38100" bIns="0" anchor="ctr">
            <a:spAutoFit/>
          </a:bodyPr>
          <a:lstStyle/>
          <a:p>
            <a:pPr algn="l">
              <a:spcBef>
                <a:spcPts val="0"/>
              </a:spcBef>
              <a:spcAft>
                <a:spcPts val="0"/>
              </a:spcAft>
              <a:defRPr sz="1425" b="0">
                <a:solidFill>
                  <a:srgbClr val="262626"/>
                </a:solidFill>
                <a:latin typeface="Arial"/>
              </a:defRPr>
            </a:pPr>
            <a:r>
              <a:t>Subprocess numbers identify logical functions. Arrows represent data flows.</a:t>
            </a:r>
          </a:p>
        </p:txBody>
      </p:sp>
      <p:sp>
        <p:nvSpPr>
          <p:cNvPr id="17" name="Rectangle 16"/>
          <p:cNvSpPr/>
          <p:nvPr/>
        </p:nvSpPr>
        <p:spPr>
          <a:xfrm>
            <a:off x="619125" y="4143375"/>
            <a:ext cx="2190750" cy="904875"/>
          </a:xfrm>
          <a:prstGeom prst="rect">
            <a:avLst/>
          </a:prstGeom>
          <a:solidFill>
            <a:srgbClr val="FFFFFF"/>
          </a:solidFill>
          <a:ln w="1524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5325" y="4191000"/>
            <a:ext cx="2038350" cy="809625"/>
          </a:xfrm>
          <a:prstGeom prst="rect">
            <a:avLst/>
          </a:prstGeom>
          <a:noFill/>
        </p:spPr>
        <p:txBody>
          <a:bodyPr wrap="square" lIns="38100" tIns="0" rIns="38100" bIns="0" anchor="ctr">
            <a:spAutoFit/>
          </a:bodyPr>
          <a:lstStyle/>
          <a:p>
            <a:pPr algn="ctr">
              <a:spcBef>
                <a:spcPts val="0"/>
              </a:spcBef>
              <a:spcAft>
                <a:spcPts val="0"/>
              </a:spcAft>
              <a:defRPr sz="1875" b="0">
                <a:solidFill>
                  <a:srgbClr val="262626"/>
                </a:solidFill>
                <a:latin typeface="Arial"/>
              </a:defRPr>
            </a:pPr>
            <a:r>
              <a:t>Customers</a:t>
            </a:r>
          </a:p>
        </p:txBody>
      </p:sp>
      <p:cxnSp>
        <p:nvCxnSpPr>
          <p:cNvPr id="19" name="Connector 18"/>
          <p:cNvCxnSpPr/>
          <p:nvPr/>
        </p:nvCxnSpPr>
        <p:spPr>
          <a:xfrm>
            <a:off x="11239500" y="44767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239500" y="48768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687175" y="447675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1258550" y="449580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D5</a:t>
            </a:r>
          </a:p>
        </p:txBody>
      </p:sp>
      <p:sp>
        <p:nvSpPr>
          <p:cNvPr id="23" name="TextBox 22"/>
          <p:cNvSpPr txBox="1"/>
          <p:nvPr/>
        </p:nvSpPr>
        <p:spPr>
          <a:xfrm>
            <a:off x="11725275" y="449580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Orders</a:t>
            </a:r>
          </a:p>
        </p:txBody>
      </p:sp>
      <p:cxnSp>
        <p:nvCxnSpPr>
          <p:cNvPr id="24" name="Connector 23"/>
          <p:cNvCxnSpPr/>
          <p:nvPr/>
        </p:nvCxnSpPr>
        <p:spPr>
          <a:xfrm>
            <a:off x="11239500" y="661987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1239500" y="7019925"/>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687175" y="6619875"/>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1258550" y="6638925"/>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D8</a:t>
            </a:r>
          </a:p>
        </p:txBody>
      </p:sp>
      <p:sp>
        <p:nvSpPr>
          <p:cNvPr id="28" name="TextBox 27"/>
          <p:cNvSpPr txBox="1"/>
          <p:nvPr/>
        </p:nvSpPr>
        <p:spPr>
          <a:xfrm>
            <a:off x="11725275" y="6638925"/>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Returns</a:t>
            </a:r>
          </a:p>
        </p:txBody>
      </p:sp>
      <p:cxnSp>
        <p:nvCxnSpPr>
          <p:cNvPr id="29" name="Connector 28"/>
          <p:cNvCxnSpPr/>
          <p:nvPr/>
        </p:nvCxnSpPr>
        <p:spPr>
          <a:xfrm>
            <a:off x="2809875" y="4362450"/>
            <a:ext cx="152400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333875" y="2505075"/>
            <a:ext cx="0" cy="1857375"/>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333875" y="2505075"/>
            <a:ext cx="1762125"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038475" y="2152650"/>
            <a:ext cx="2762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Return request</a:t>
            </a:r>
          </a:p>
        </p:txBody>
      </p:sp>
      <p:cxnSp>
        <p:nvCxnSpPr>
          <p:cNvPr id="33" name="Connector 32"/>
          <p:cNvCxnSpPr/>
          <p:nvPr/>
        </p:nvCxnSpPr>
        <p:spPr>
          <a:xfrm>
            <a:off x="7286625" y="3048000"/>
            <a:ext cx="0" cy="109537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639050" y="3381375"/>
            <a:ext cx="2905125"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Validated return details</a:t>
            </a:r>
          </a:p>
        </p:txBody>
      </p:sp>
      <p:cxnSp>
        <p:nvCxnSpPr>
          <p:cNvPr id="35" name="Connector 34"/>
          <p:cNvCxnSpPr/>
          <p:nvPr/>
        </p:nvCxnSpPr>
        <p:spPr>
          <a:xfrm flipH="1">
            <a:off x="8477250" y="4638675"/>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677275" y="4162425"/>
            <a:ext cx="2381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Order details</a:t>
            </a:r>
          </a:p>
        </p:txBody>
      </p:sp>
      <p:cxnSp>
        <p:nvCxnSpPr>
          <p:cNvPr id="37" name="Connector 36"/>
          <p:cNvCxnSpPr/>
          <p:nvPr/>
        </p:nvCxnSpPr>
        <p:spPr>
          <a:xfrm>
            <a:off x="7286625" y="5191125"/>
            <a:ext cx="0" cy="109537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639050" y="5467350"/>
            <a:ext cx="304800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Return eligibility decision</a:t>
            </a:r>
          </a:p>
        </p:txBody>
      </p:sp>
      <p:cxnSp>
        <p:nvCxnSpPr>
          <p:cNvPr id="39" name="Connector 38"/>
          <p:cNvCxnSpPr/>
          <p:nvPr/>
        </p:nvCxnSpPr>
        <p:spPr>
          <a:xfrm>
            <a:off x="8477250" y="6781800"/>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677275" y="6276975"/>
            <a:ext cx="2381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Return record</a:t>
            </a:r>
          </a:p>
        </p:txBody>
      </p:sp>
      <p:cxnSp>
        <p:nvCxnSpPr>
          <p:cNvPr id="41" name="Connector 40"/>
          <p:cNvCxnSpPr/>
          <p:nvPr/>
        </p:nvCxnSpPr>
        <p:spPr>
          <a:xfrm flipH="1">
            <a:off x="4000500" y="6791325"/>
            <a:ext cx="209550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00500" y="4810125"/>
            <a:ext cx="0" cy="198120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2809875" y="4810125"/>
            <a:ext cx="1190625"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905125" y="6238875"/>
            <a:ext cx="2990850" cy="542925"/>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Return status / authorization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3875" y="257175"/>
            <a:ext cx="14144625" cy="571500"/>
          </a:xfrm>
          <a:prstGeom prst="rect">
            <a:avLst/>
          </a:prstGeom>
          <a:solidFill>
            <a:srgbClr val="FFFFFF"/>
          </a:solidFill>
        </p:spPr>
        <p:txBody>
          <a:bodyPr wrap="square" lIns="38100" tIns="0" rIns="38100" bIns="0" anchor="ctr">
            <a:spAutoFit/>
          </a:bodyPr>
          <a:lstStyle/>
          <a:p>
            <a:pPr algn="l">
              <a:spcBef>
                <a:spcPts val="0"/>
              </a:spcBef>
              <a:spcAft>
                <a:spcPts val="0"/>
              </a:spcAft>
              <a:defRPr sz="3000" b="1">
                <a:solidFill>
                  <a:srgbClr val="262626"/>
                </a:solidFill>
                <a:latin typeface="Arial"/>
              </a:defRPr>
            </a:pPr>
            <a:r>
              <a:t>9.0  Generate Reports</a:t>
            </a:r>
          </a:p>
        </p:txBody>
      </p:sp>
      <p:sp>
        <p:nvSpPr>
          <p:cNvPr id="3" name="TextBox 2"/>
          <p:cNvSpPr txBox="1"/>
          <p:nvPr/>
        </p:nvSpPr>
        <p:spPr>
          <a:xfrm>
            <a:off x="542925" y="895350"/>
            <a:ext cx="14097000" cy="381000"/>
          </a:xfrm>
          <a:prstGeom prst="rect">
            <a:avLst/>
          </a:prstGeom>
          <a:solidFill>
            <a:srgbClr val="FFFFFF"/>
          </a:solidFill>
        </p:spPr>
        <p:txBody>
          <a:bodyPr wrap="square" lIns="38100" tIns="0" rIns="38100" bIns="0" anchor="ctr">
            <a:spAutoFit/>
          </a:bodyPr>
          <a:lstStyle/>
          <a:p>
            <a:pPr algn="l">
              <a:spcBef>
                <a:spcPts val="0"/>
              </a:spcBef>
              <a:spcAft>
                <a:spcPts val="0"/>
              </a:spcAft>
              <a:defRPr sz="1800" b="0">
                <a:solidFill>
                  <a:srgbClr val="262626"/>
                </a:solidFill>
                <a:latin typeface="Arial"/>
              </a:defRPr>
            </a:pPr>
            <a:r>
              <a:t>CardCollector System · Level 1 data flow diagram</a:t>
            </a:r>
          </a:p>
        </p:txBody>
      </p:sp>
      <p:sp>
        <p:nvSpPr>
          <p:cNvPr id="4" name="Rounded Rectangle 3"/>
          <p:cNvSpPr/>
          <p:nvPr/>
        </p:nvSpPr>
        <p:spPr>
          <a:xfrm>
            <a:off x="6096000" y="2000250"/>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6096000" y="230505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210300" y="202882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9.1</a:t>
            </a:r>
          </a:p>
        </p:txBody>
      </p:sp>
      <p:sp>
        <p:nvSpPr>
          <p:cNvPr id="7" name="TextBox 6"/>
          <p:cNvSpPr txBox="1"/>
          <p:nvPr/>
        </p:nvSpPr>
        <p:spPr>
          <a:xfrm>
            <a:off x="6191250" y="2362200"/>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Assemble</a:t>
            </a:r>
          </a:p>
          <a:p>
            <a:pPr algn="ctr">
              <a:spcBef>
                <a:spcPts val="0"/>
              </a:spcBef>
              <a:spcAft>
                <a:spcPts val="0"/>
              </a:spcAft>
              <a:defRPr sz="1800" b="0">
                <a:solidFill>
                  <a:srgbClr val="262626"/>
                </a:solidFill>
                <a:latin typeface="Arial"/>
              </a:defRPr>
            </a:pPr>
            <a:r>
              <a:t>Reporting Data</a:t>
            </a:r>
          </a:p>
        </p:txBody>
      </p:sp>
      <p:sp>
        <p:nvSpPr>
          <p:cNvPr id="8" name="Rounded Rectangle 7"/>
          <p:cNvSpPr/>
          <p:nvPr/>
        </p:nvSpPr>
        <p:spPr>
          <a:xfrm>
            <a:off x="6096000" y="4143375"/>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6096000" y="4448175"/>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10300" y="4171950"/>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9.2</a:t>
            </a:r>
          </a:p>
        </p:txBody>
      </p:sp>
      <p:sp>
        <p:nvSpPr>
          <p:cNvPr id="11" name="TextBox 10"/>
          <p:cNvSpPr txBox="1"/>
          <p:nvPr/>
        </p:nvSpPr>
        <p:spPr>
          <a:xfrm>
            <a:off x="6191250" y="4505325"/>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Calculate Report</a:t>
            </a:r>
          </a:p>
          <a:p>
            <a:pPr algn="ctr">
              <a:spcBef>
                <a:spcPts val="0"/>
              </a:spcBef>
              <a:spcAft>
                <a:spcPts val="0"/>
              </a:spcAft>
              <a:defRPr sz="1800" b="0">
                <a:solidFill>
                  <a:srgbClr val="262626"/>
                </a:solidFill>
                <a:latin typeface="Arial"/>
              </a:defRPr>
            </a:pPr>
            <a:r>
              <a:t>Measures</a:t>
            </a:r>
          </a:p>
        </p:txBody>
      </p:sp>
      <p:sp>
        <p:nvSpPr>
          <p:cNvPr id="12" name="Rounded Rectangle 11"/>
          <p:cNvSpPr/>
          <p:nvPr/>
        </p:nvSpPr>
        <p:spPr>
          <a:xfrm>
            <a:off x="6096000" y="6286500"/>
            <a:ext cx="2381250" cy="1047750"/>
          </a:xfrm>
          <a:prstGeom prst="roundRect">
            <a:avLst>
              <a:gd name="adj" fmla="val 15000"/>
            </a:avLst>
          </a:prstGeom>
          <a:solidFill>
            <a:srgbClr val="FFFFFF"/>
          </a:solidFill>
          <a:ln w="1651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6096000" y="6591300"/>
            <a:ext cx="2381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10300" y="6315075"/>
            <a:ext cx="2152650" cy="247650"/>
          </a:xfrm>
          <a:prstGeom prst="rect">
            <a:avLst/>
          </a:prstGeom>
          <a:noFill/>
        </p:spPr>
        <p:txBody>
          <a:bodyPr wrap="square" lIns="38100" tIns="0" rIns="38100" bIns="0" anchor="ctr">
            <a:spAutoFit/>
          </a:bodyPr>
          <a:lstStyle/>
          <a:p>
            <a:pPr algn="ctr">
              <a:spcBef>
                <a:spcPts val="0"/>
              </a:spcBef>
              <a:spcAft>
                <a:spcPts val="0"/>
              </a:spcAft>
              <a:defRPr sz="1650" b="1">
                <a:solidFill>
                  <a:srgbClr val="262626"/>
                </a:solidFill>
                <a:latin typeface="Arial"/>
              </a:defRPr>
            </a:pPr>
            <a:r>
              <a:t>9.3</a:t>
            </a:r>
          </a:p>
        </p:txBody>
      </p:sp>
      <p:sp>
        <p:nvSpPr>
          <p:cNvPr id="15" name="TextBox 14"/>
          <p:cNvSpPr txBox="1"/>
          <p:nvPr/>
        </p:nvSpPr>
        <p:spPr>
          <a:xfrm>
            <a:off x="6191250" y="6648450"/>
            <a:ext cx="2190750" cy="619125"/>
          </a:xfrm>
          <a:prstGeom prst="rect">
            <a:avLst/>
          </a:prstGeom>
          <a:noFill/>
        </p:spPr>
        <p:txBody>
          <a:bodyPr wrap="square" lIns="38100" tIns="0" rIns="38100" bIns="0" anchor="ctr">
            <a:spAutoFit/>
          </a:bodyPr>
          <a:lstStyle/>
          <a:p>
            <a:pPr algn="ctr">
              <a:spcBef>
                <a:spcPts val="0"/>
              </a:spcBef>
              <a:spcAft>
                <a:spcPts val="0"/>
              </a:spcAft>
              <a:defRPr sz="1800" b="0">
                <a:solidFill>
                  <a:srgbClr val="262626"/>
                </a:solidFill>
                <a:latin typeface="Arial"/>
              </a:defRPr>
            </a:pPr>
            <a:r>
              <a:t>Format</a:t>
            </a:r>
          </a:p>
          <a:p>
            <a:pPr algn="ctr">
              <a:spcBef>
                <a:spcPts val="0"/>
              </a:spcBef>
              <a:spcAft>
                <a:spcPts val="0"/>
              </a:spcAft>
              <a:defRPr sz="1800" b="0">
                <a:solidFill>
                  <a:srgbClr val="262626"/>
                </a:solidFill>
                <a:latin typeface="Arial"/>
              </a:defRPr>
            </a:pPr>
            <a:r>
              <a:t>Reports</a:t>
            </a:r>
          </a:p>
        </p:txBody>
      </p:sp>
      <p:sp>
        <p:nvSpPr>
          <p:cNvPr id="16" name="TextBox 15"/>
          <p:cNvSpPr txBox="1"/>
          <p:nvPr/>
        </p:nvSpPr>
        <p:spPr>
          <a:xfrm>
            <a:off x="542925" y="8029575"/>
            <a:ext cx="14144625" cy="323850"/>
          </a:xfrm>
          <a:prstGeom prst="rect">
            <a:avLst/>
          </a:prstGeom>
          <a:solidFill>
            <a:srgbClr val="FFFFFF"/>
          </a:solidFill>
        </p:spPr>
        <p:txBody>
          <a:bodyPr wrap="square" lIns="38100" tIns="0" rIns="38100" bIns="0" anchor="ctr">
            <a:spAutoFit/>
          </a:bodyPr>
          <a:lstStyle/>
          <a:p>
            <a:pPr algn="l">
              <a:spcBef>
                <a:spcPts val="0"/>
              </a:spcBef>
              <a:spcAft>
                <a:spcPts val="0"/>
              </a:spcAft>
              <a:defRPr sz="1425" b="0">
                <a:solidFill>
                  <a:srgbClr val="262626"/>
                </a:solidFill>
                <a:latin typeface="Arial"/>
              </a:defRPr>
            </a:pPr>
            <a:r>
              <a:t>Subprocess numbers identify logical functions. Arrows represent data flows.</a:t>
            </a:r>
          </a:p>
        </p:txBody>
      </p:sp>
      <p:sp>
        <p:nvSpPr>
          <p:cNvPr id="17" name="Rectangle 16"/>
          <p:cNvSpPr/>
          <p:nvPr/>
        </p:nvSpPr>
        <p:spPr>
          <a:xfrm>
            <a:off x="619125" y="6429375"/>
            <a:ext cx="2190750" cy="904875"/>
          </a:xfrm>
          <a:prstGeom prst="rect">
            <a:avLst/>
          </a:prstGeom>
          <a:solidFill>
            <a:srgbClr val="FFFFFF"/>
          </a:solidFill>
          <a:ln w="1524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5325" y="6477000"/>
            <a:ext cx="2038350" cy="809625"/>
          </a:xfrm>
          <a:prstGeom prst="rect">
            <a:avLst/>
          </a:prstGeom>
          <a:noFill/>
        </p:spPr>
        <p:txBody>
          <a:bodyPr wrap="square" lIns="38100" tIns="0" rIns="38100" bIns="0" anchor="ctr">
            <a:spAutoFit/>
          </a:bodyPr>
          <a:lstStyle/>
          <a:p>
            <a:pPr algn="ctr">
              <a:spcBef>
                <a:spcPts val="0"/>
              </a:spcBef>
              <a:spcAft>
                <a:spcPts val="0"/>
              </a:spcAft>
              <a:defRPr sz="1875" b="0">
                <a:solidFill>
                  <a:srgbClr val="262626"/>
                </a:solidFill>
                <a:latin typeface="Arial"/>
              </a:defRPr>
            </a:pPr>
            <a:r>
              <a:t>Administrators</a:t>
            </a:r>
          </a:p>
        </p:txBody>
      </p:sp>
      <p:cxnSp>
        <p:nvCxnSpPr>
          <p:cNvPr id="19" name="Connector 18"/>
          <p:cNvCxnSpPr/>
          <p:nvPr/>
        </p:nvCxnSpPr>
        <p:spPr>
          <a:xfrm>
            <a:off x="11239500" y="17145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239500" y="21145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687175" y="171450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1258550" y="173355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D1</a:t>
            </a:r>
          </a:p>
        </p:txBody>
      </p:sp>
      <p:sp>
        <p:nvSpPr>
          <p:cNvPr id="23" name="TextBox 22"/>
          <p:cNvSpPr txBox="1"/>
          <p:nvPr/>
        </p:nvSpPr>
        <p:spPr>
          <a:xfrm>
            <a:off x="11725275" y="173355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Customers</a:t>
            </a:r>
          </a:p>
        </p:txBody>
      </p:sp>
      <p:cxnSp>
        <p:nvCxnSpPr>
          <p:cNvPr id="24" name="Connector 23"/>
          <p:cNvCxnSpPr/>
          <p:nvPr/>
        </p:nvCxnSpPr>
        <p:spPr>
          <a:xfrm>
            <a:off x="11239500" y="24765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1239500" y="28765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687175" y="247650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1258550" y="249555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D3</a:t>
            </a:r>
          </a:p>
        </p:txBody>
      </p:sp>
      <p:sp>
        <p:nvSpPr>
          <p:cNvPr id="28" name="TextBox 27"/>
          <p:cNvSpPr txBox="1"/>
          <p:nvPr/>
        </p:nvSpPr>
        <p:spPr>
          <a:xfrm>
            <a:off x="11725275" y="249555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Inventory</a:t>
            </a:r>
          </a:p>
        </p:txBody>
      </p:sp>
      <p:cxnSp>
        <p:nvCxnSpPr>
          <p:cNvPr id="29" name="Connector 28"/>
          <p:cNvCxnSpPr/>
          <p:nvPr/>
        </p:nvCxnSpPr>
        <p:spPr>
          <a:xfrm>
            <a:off x="11239500" y="32385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239500" y="36385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687175" y="323850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1258550" y="325755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D5</a:t>
            </a:r>
          </a:p>
        </p:txBody>
      </p:sp>
      <p:sp>
        <p:nvSpPr>
          <p:cNvPr id="33" name="TextBox 32"/>
          <p:cNvSpPr txBox="1"/>
          <p:nvPr/>
        </p:nvSpPr>
        <p:spPr>
          <a:xfrm>
            <a:off x="11725275" y="325755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Orders</a:t>
            </a:r>
          </a:p>
        </p:txBody>
      </p:sp>
      <p:cxnSp>
        <p:nvCxnSpPr>
          <p:cNvPr id="34" name="Connector 33"/>
          <p:cNvCxnSpPr/>
          <p:nvPr/>
        </p:nvCxnSpPr>
        <p:spPr>
          <a:xfrm>
            <a:off x="11239500" y="400050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239500" y="4400550"/>
            <a:ext cx="27622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687175" y="4000500"/>
            <a:ext cx="0" cy="40005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1258550" y="4019550"/>
            <a:ext cx="409575" cy="361950"/>
          </a:xfrm>
          <a:prstGeom prst="rect">
            <a:avLst/>
          </a:prstGeom>
          <a:noFill/>
        </p:spPr>
        <p:txBody>
          <a:bodyPr wrap="square" lIns="38100" tIns="0" rIns="38100" bIns="0" anchor="ctr">
            <a:spAutoFit/>
          </a:bodyPr>
          <a:lstStyle/>
          <a:p>
            <a:pPr algn="ctr">
              <a:spcBef>
                <a:spcPts val="0"/>
              </a:spcBef>
              <a:spcAft>
                <a:spcPts val="0"/>
              </a:spcAft>
              <a:defRPr sz="1575" b="1">
                <a:solidFill>
                  <a:srgbClr val="262626"/>
                </a:solidFill>
                <a:latin typeface="Arial"/>
              </a:defRPr>
            </a:pPr>
            <a:r>
              <a:t>D8</a:t>
            </a:r>
          </a:p>
        </p:txBody>
      </p:sp>
      <p:sp>
        <p:nvSpPr>
          <p:cNvPr id="38" name="TextBox 37"/>
          <p:cNvSpPr txBox="1"/>
          <p:nvPr/>
        </p:nvSpPr>
        <p:spPr>
          <a:xfrm>
            <a:off x="11725275" y="4019550"/>
            <a:ext cx="2238375" cy="361950"/>
          </a:xfrm>
          <a:prstGeom prst="rect">
            <a:avLst/>
          </a:prstGeom>
          <a:noFill/>
        </p:spPr>
        <p:txBody>
          <a:bodyPr wrap="square" lIns="38100" tIns="0" rIns="38100" bIns="0" anchor="ctr">
            <a:spAutoFit/>
          </a:bodyPr>
          <a:lstStyle/>
          <a:p>
            <a:pPr algn="ctr">
              <a:spcBef>
                <a:spcPts val="0"/>
              </a:spcBef>
              <a:spcAft>
                <a:spcPts val="0"/>
              </a:spcAft>
              <a:defRPr sz="1650" b="0">
                <a:solidFill>
                  <a:srgbClr val="262626"/>
                </a:solidFill>
                <a:latin typeface="Arial"/>
              </a:defRPr>
            </a:pPr>
            <a:r>
              <a:t>Returns</a:t>
            </a:r>
          </a:p>
        </p:txBody>
      </p:sp>
      <p:cxnSp>
        <p:nvCxnSpPr>
          <p:cNvPr id="39" name="Connector 38"/>
          <p:cNvCxnSpPr/>
          <p:nvPr/>
        </p:nvCxnSpPr>
        <p:spPr>
          <a:xfrm flipH="1">
            <a:off x="9810750" y="1914525"/>
            <a:ext cx="14287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810750" y="1914525"/>
            <a:ext cx="0" cy="314325"/>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8477250" y="2228850"/>
            <a:ext cx="133350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810625" y="1562100"/>
            <a:ext cx="1809750" cy="3048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Profiles</a:t>
            </a:r>
          </a:p>
        </p:txBody>
      </p:sp>
      <p:cxnSp>
        <p:nvCxnSpPr>
          <p:cNvPr id="43" name="Connector 42"/>
          <p:cNvCxnSpPr/>
          <p:nvPr/>
        </p:nvCxnSpPr>
        <p:spPr>
          <a:xfrm flipH="1">
            <a:off x="8477250" y="2676525"/>
            <a:ext cx="2762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810625" y="2276475"/>
            <a:ext cx="1809750" cy="3048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Stock</a:t>
            </a:r>
          </a:p>
        </p:txBody>
      </p:sp>
      <p:cxnSp>
        <p:nvCxnSpPr>
          <p:cNvPr id="45" name="Connector 44"/>
          <p:cNvCxnSpPr/>
          <p:nvPr/>
        </p:nvCxnSpPr>
        <p:spPr>
          <a:xfrm flipH="1">
            <a:off x="9429750" y="3438525"/>
            <a:ext cx="180975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9429750" y="2857500"/>
            <a:ext cx="0" cy="581025"/>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8477250" y="2857500"/>
            <a:ext cx="95250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9715500" y="3476625"/>
            <a:ext cx="1619250" cy="3048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Sales</a:t>
            </a:r>
          </a:p>
        </p:txBody>
      </p:sp>
      <p:cxnSp>
        <p:nvCxnSpPr>
          <p:cNvPr id="49" name="Connector 48"/>
          <p:cNvCxnSpPr/>
          <p:nvPr/>
        </p:nvCxnSpPr>
        <p:spPr>
          <a:xfrm flipH="1">
            <a:off x="8953500" y="4200525"/>
            <a:ext cx="2286000" cy="0"/>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8953500" y="2990850"/>
            <a:ext cx="0" cy="1209675"/>
          </a:xfrm>
          <a:prstGeom prst="line">
            <a:avLst/>
          </a:prstGeom>
          <a:ln w="13970">
            <a:solidFill>
              <a:srgbClr val="26262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477250" y="2990850"/>
            <a:ext cx="476250"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9410700" y="4276725"/>
            <a:ext cx="1743075" cy="3048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Returns</a:t>
            </a:r>
          </a:p>
        </p:txBody>
      </p:sp>
      <p:cxnSp>
        <p:nvCxnSpPr>
          <p:cNvPr id="53" name="Connector 52"/>
          <p:cNvCxnSpPr/>
          <p:nvPr/>
        </p:nvCxnSpPr>
        <p:spPr>
          <a:xfrm>
            <a:off x="7286625" y="3048000"/>
            <a:ext cx="0" cy="109537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3686175" y="3381375"/>
            <a:ext cx="32194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Combined reporting data</a:t>
            </a:r>
          </a:p>
        </p:txBody>
      </p:sp>
      <p:cxnSp>
        <p:nvCxnSpPr>
          <p:cNvPr id="55" name="Connector 54"/>
          <p:cNvCxnSpPr/>
          <p:nvPr/>
        </p:nvCxnSpPr>
        <p:spPr>
          <a:xfrm>
            <a:off x="7286625" y="5191125"/>
            <a:ext cx="0" cy="1095375"/>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639050" y="5467350"/>
            <a:ext cx="3143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Calculated report measures</a:t>
            </a:r>
          </a:p>
        </p:txBody>
      </p:sp>
      <p:cxnSp>
        <p:nvCxnSpPr>
          <p:cNvPr id="57" name="Connector 56"/>
          <p:cNvCxnSpPr/>
          <p:nvPr/>
        </p:nvCxnSpPr>
        <p:spPr>
          <a:xfrm flipH="1">
            <a:off x="2809875" y="6800850"/>
            <a:ext cx="3286125" cy="0"/>
          </a:xfrm>
          <a:prstGeom prst="line">
            <a:avLst/>
          </a:prstGeom>
          <a:ln w="13970">
            <a:solidFill>
              <a:srgbClr val="26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000375" y="6286500"/>
            <a:ext cx="2762250" cy="457200"/>
          </a:xfrm>
          <a:prstGeom prst="rect">
            <a:avLst/>
          </a:prstGeom>
          <a:solidFill>
            <a:srgbClr val="FFFFFF"/>
          </a:solidFill>
        </p:spPr>
        <p:txBody>
          <a:bodyPr wrap="square" lIns="38100" tIns="0" rIns="38100" bIns="0" anchor="ctr">
            <a:spAutoFit/>
          </a:bodyPr>
          <a:lstStyle/>
          <a:p>
            <a:pPr algn="ctr">
              <a:spcBef>
                <a:spcPts val="0"/>
              </a:spcBef>
              <a:spcAft>
                <a:spcPts val="0"/>
              </a:spcAft>
              <a:defRPr sz="1575" b="0">
                <a:solidFill>
                  <a:srgbClr val="262626"/>
                </a:solidFill>
                <a:latin typeface="Arial"/>
              </a:defRPr>
            </a:pPr>
            <a:r>
              <a:t>Management reports</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2135</Words>
  <Application>Microsoft Office PowerPoint</Application>
  <PresentationFormat>Custom</PresentationFormat>
  <Paragraphs>397</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Tyler Atkinson</dc:creator>
  <cp:lastModifiedBy>Tyler Atkinson</cp:lastModifiedBy>
  <cp:revision>1</cp:revision>
  <dcterms:created xsi:type="dcterms:W3CDTF">2026-10-12T18:12:59Z</dcterms:created>
  <dcterms:modified xsi:type="dcterms:W3CDTF">2026-10-12T18:46:26Z</dcterms:modified>
</cp:coreProperties>
</file>